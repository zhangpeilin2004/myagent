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0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61294" autoAdjust="0"/>
  </p:normalViewPr>
  <p:slideViewPr>
    <p:cSldViewPr snapToGrid="0" showGuides="1">
      <p:cViewPr varScale="1">
        <p:scale>
          <a:sx n="62" d="100"/>
          <a:sy n="62" d="100"/>
        </p:scale>
        <p:origin x="1411" y="5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-7618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529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.../backend/llm/hermes_llm.py</a:t>
            </a:r>
          </a:p>
          <a:p>
            <a:r>
              <a:rPr lang="en-US" dirty="0" err="1"/>
              <a:t>核心功能</a:t>
            </a:r>
            <a:r>
              <a:rPr lang="en-US" dirty="0"/>
              <a:t>：</a:t>
            </a:r>
          </a:p>
          <a:p>
            <a:r>
              <a:rPr lang="en-US" dirty="0" err="1"/>
              <a:t>普通对话生成</a:t>
            </a:r>
            <a:endParaRPr lang="en-US" dirty="0"/>
          </a:p>
          <a:p>
            <a:r>
              <a:rPr lang="en-US" dirty="0"/>
              <a:t>SSE </a:t>
            </a:r>
            <a:r>
              <a:rPr lang="en-US" dirty="0" err="1"/>
              <a:t>流式输出（前端打字机效果</a:t>
            </a:r>
            <a:r>
              <a:rPr lang="en-US" dirty="0"/>
              <a:t>）</a:t>
            </a:r>
          </a:p>
          <a:p>
            <a:r>
              <a:rPr lang="en-US" dirty="0" err="1"/>
              <a:t>提取模型返回的工具调用标签</a:t>
            </a:r>
            <a:endParaRPr lang="en-US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.../backend/tools/base_tool.py </a:t>
            </a:r>
            <a:r>
              <a:rPr lang="en-US" dirty="0" err="1"/>
              <a:t>工具基类，定义名称、描述、入参</a:t>
            </a:r>
            <a:r>
              <a:rPr lang="en-US" dirty="0"/>
              <a:t> schema</a:t>
            </a:r>
          </a:p>
          <a:p>
            <a:r>
              <a:rPr lang="en-US" dirty="0" err="1"/>
              <a:t>内置示例工具：计算器、本地文件读取、时间查询、联网搜索（可选</a:t>
            </a:r>
            <a:r>
              <a:rPr lang="en-US" dirty="0"/>
              <a:t>）</a:t>
            </a:r>
          </a:p>
          <a:p>
            <a:r>
              <a:rPr lang="en-US" dirty="0" err="1"/>
              <a:t>工具管理器：自动收集所有工具，生成符合</a:t>
            </a:r>
            <a:r>
              <a:rPr lang="en-US" dirty="0"/>
              <a:t> Hermes </a:t>
            </a:r>
            <a:r>
              <a:rPr lang="en-US" dirty="0" err="1"/>
              <a:t>格式的工具描述</a:t>
            </a:r>
            <a:r>
              <a:rPr lang="en-US" dirty="0"/>
              <a:t> Prompt</a:t>
            </a:r>
          </a:p>
          <a:p>
            <a:r>
              <a:rPr lang="en-US" dirty="0" err="1"/>
              <a:t>工具执行器：解析模型输出的</a:t>
            </a:r>
            <a:r>
              <a:rPr lang="en-US" dirty="0"/>
              <a:t>&lt;&lt;</a:t>
            </a:r>
            <a:r>
              <a:rPr lang="en-US" dirty="0" err="1"/>
              <a:t>FunctionCall</a:t>
            </a:r>
            <a:r>
              <a:rPr lang="en-US" dirty="0"/>
              <a:t>&gt;&gt;</a:t>
            </a:r>
            <a:r>
              <a:rPr lang="en-US" dirty="0" err="1"/>
              <a:t>标签，自动调用对应函数</a:t>
            </a:r>
            <a:endParaRPr lang="en-US" dirty="0"/>
          </a:p>
          <a:p>
            <a:endParaRPr lang="en-US" dirty="0"/>
          </a:p>
          <a:p>
            <a:r>
              <a:rPr lang="en-US" dirty="0"/>
              <a:t>Hermes </a:t>
            </a:r>
            <a:r>
              <a:rPr lang="en-US" dirty="0" err="1"/>
              <a:t>标准工具调用格式示例（模型输出</a:t>
            </a:r>
            <a:r>
              <a:rPr lang="en-US" dirty="0"/>
              <a:t>）: &lt;&lt;</a:t>
            </a:r>
            <a:r>
              <a:rPr lang="en-US" dirty="0" err="1"/>
              <a:t>FunctionCall</a:t>
            </a:r>
            <a:r>
              <a:rPr lang="en-US" dirty="0"/>
              <a:t>&gt;&gt;[{"</a:t>
            </a:r>
            <a:r>
              <a:rPr lang="en-US" dirty="0" err="1"/>
              <a:t>name":"get_current_time","arguments</a:t>
            </a:r>
            <a:r>
              <a:rPr lang="en-US" dirty="0"/>
              <a:t>":{}}]</a:t>
            </a:r>
          </a:p>
          <a:p>
            <a:endParaRPr lang="en-US" dirty="0"/>
          </a:p>
          <a:p>
            <a:r>
              <a:rPr lang="en-US" dirty="0" err="1"/>
              <a:t>基于</a:t>
            </a:r>
            <a:r>
              <a:rPr lang="en-US" dirty="0"/>
              <a:t> </a:t>
            </a:r>
            <a:r>
              <a:rPr lang="en-US" dirty="0" err="1"/>
              <a:t>LangGraph</a:t>
            </a:r>
            <a:r>
              <a:rPr lang="en-US" dirty="0"/>
              <a:t> </a:t>
            </a:r>
            <a:r>
              <a:rPr lang="en-US" dirty="0" err="1"/>
              <a:t>构建</a:t>
            </a:r>
            <a:r>
              <a:rPr lang="en-US" dirty="0"/>
              <a:t> Hermes Agent </a:t>
            </a:r>
            <a:r>
              <a:rPr lang="en-US" dirty="0" err="1"/>
              <a:t>决策流程标准</a:t>
            </a:r>
            <a:r>
              <a:rPr lang="en-US" dirty="0"/>
              <a:t> Hermes Agent </a:t>
            </a:r>
            <a:r>
              <a:rPr lang="en-US" dirty="0" err="1"/>
              <a:t>循环链路</a:t>
            </a:r>
            <a:r>
              <a:rPr lang="en-US" dirty="0"/>
              <a:t>：</a:t>
            </a:r>
          </a:p>
          <a:p>
            <a:r>
              <a:rPr lang="en-US" dirty="0" err="1"/>
              <a:t>用户输入</a:t>
            </a:r>
            <a:r>
              <a:rPr lang="en-US" dirty="0"/>
              <a:t> → </a:t>
            </a:r>
            <a:r>
              <a:rPr lang="en-US" dirty="0" err="1"/>
              <a:t>加载历史记忆</a:t>
            </a:r>
            <a:r>
              <a:rPr lang="en-US" dirty="0"/>
              <a:t> → LLM </a:t>
            </a:r>
            <a:r>
              <a:rPr lang="en-US" dirty="0" err="1"/>
              <a:t>思考</a:t>
            </a:r>
            <a:r>
              <a:rPr lang="en-US" dirty="0"/>
              <a:t> → </a:t>
            </a:r>
            <a:r>
              <a:rPr lang="en-US" dirty="0" err="1"/>
              <a:t>判断是否调用工具</a:t>
            </a:r>
            <a:endParaRPr lang="en-US" dirty="0"/>
          </a:p>
          <a:p>
            <a:r>
              <a:rPr lang="en-US" dirty="0"/>
              <a:t>→ </a:t>
            </a:r>
            <a:r>
              <a:rPr lang="en-US" dirty="0" err="1"/>
              <a:t>调用工具获取结果</a:t>
            </a:r>
            <a:r>
              <a:rPr lang="en-US" dirty="0"/>
              <a:t> → </a:t>
            </a:r>
            <a:r>
              <a:rPr lang="en-US" dirty="0" err="1"/>
              <a:t>把工具结果丢回上下文</a:t>
            </a:r>
            <a:r>
              <a:rPr lang="en-US" dirty="0"/>
              <a:t> → </a:t>
            </a:r>
            <a:r>
              <a:rPr lang="en-US" dirty="0" err="1"/>
              <a:t>生成最终回答</a:t>
            </a:r>
            <a:endParaRPr lang="en-US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.../backend/agent/graph.py </a:t>
            </a:r>
            <a:r>
              <a:rPr lang="en-US" dirty="0" err="1"/>
              <a:t>构建</a:t>
            </a:r>
            <a:r>
              <a:rPr lang="en-US" dirty="0"/>
              <a:t> </a:t>
            </a:r>
            <a:r>
              <a:rPr lang="en-US" dirty="0" err="1"/>
              <a:t>LangGraph</a:t>
            </a:r>
            <a:r>
              <a:rPr lang="en-US" dirty="0"/>
              <a:t> </a:t>
            </a:r>
            <a:r>
              <a:rPr lang="en-US" dirty="0" err="1"/>
              <a:t>状态图</a:t>
            </a:r>
            <a:endParaRPr lang="en-US" dirty="0"/>
          </a:p>
          <a:p>
            <a:r>
              <a:rPr lang="en-US" dirty="0" err="1"/>
              <a:t>定义</a:t>
            </a:r>
            <a:r>
              <a:rPr lang="en-US" dirty="0"/>
              <a:t> State </a:t>
            </a:r>
            <a:r>
              <a:rPr lang="en-US" dirty="0" err="1"/>
              <a:t>结构体：对话历史、工具返回、用户提问、是否结束循环</a:t>
            </a:r>
            <a:endParaRPr lang="en-US" dirty="0"/>
          </a:p>
          <a:p>
            <a:r>
              <a:rPr lang="en-US" dirty="0"/>
              <a:t>4 </a:t>
            </a:r>
            <a:r>
              <a:rPr lang="en-US" dirty="0" err="1"/>
              <a:t>个核心节点</a:t>
            </a:r>
            <a:r>
              <a:rPr lang="en-US" dirty="0"/>
              <a:t>：</a:t>
            </a:r>
          </a:p>
          <a:p>
            <a:endParaRPr lang="en-US" dirty="0"/>
          </a:p>
          <a:p>
            <a:r>
              <a:rPr lang="en-US" dirty="0" err="1"/>
              <a:t>node_llm_call：调用</a:t>
            </a:r>
            <a:r>
              <a:rPr lang="en-US" dirty="0"/>
              <a:t> Hermes </a:t>
            </a:r>
            <a:r>
              <a:rPr lang="en-US" dirty="0" err="1"/>
              <a:t>模型</a:t>
            </a:r>
            <a:endParaRPr lang="en-US" dirty="0"/>
          </a:p>
          <a:p>
            <a:r>
              <a:rPr lang="en-US" dirty="0" err="1"/>
              <a:t>node_parse_tool：解析工具调用</a:t>
            </a:r>
            <a:endParaRPr lang="en-US" dirty="0"/>
          </a:p>
          <a:p>
            <a:r>
              <a:rPr lang="en-US" dirty="0" err="1"/>
              <a:t>node_exec_tool：执行工具函数</a:t>
            </a:r>
            <a:endParaRPr lang="en-US" dirty="0"/>
          </a:p>
          <a:p>
            <a:r>
              <a:rPr lang="en-US" dirty="0" err="1"/>
              <a:t>node_final_answer：整理结果输出给用户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条件分支：有工具调用则循环，无工具调用直接输出回答</a:t>
            </a:r>
            <a:endParaRPr lang="en-US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会话记忆与持久化存储（Hermes</a:t>
            </a:r>
            <a:r>
              <a:rPr lang="en-US" dirty="0"/>
              <a:t> </a:t>
            </a:r>
            <a:r>
              <a:rPr lang="en-US" dirty="0" err="1"/>
              <a:t>多会话功能）Hermes</a:t>
            </a:r>
            <a:r>
              <a:rPr lang="en-US" dirty="0"/>
              <a:t> UI </a:t>
            </a:r>
            <a:r>
              <a:rPr lang="en-US" dirty="0" err="1"/>
              <a:t>支持多会话切换，需要数据库存储对话</a:t>
            </a:r>
            <a:r>
              <a:rPr lang="en-US" dirty="0"/>
              <a:t>：</a:t>
            </a:r>
          </a:p>
          <a:p>
            <a:r>
              <a:rPr lang="en-US" dirty="0" err="1"/>
              <a:t>使用</a:t>
            </a:r>
            <a:r>
              <a:rPr lang="en-US" dirty="0"/>
              <a:t> </a:t>
            </a:r>
            <a:r>
              <a:rPr lang="en-US" dirty="0" err="1"/>
              <a:t>SQLAlchemy</a:t>
            </a:r>
            <a:r>
              <a:rPr lang="en-US" dirty="0"/>
              <a:t> </a:t>
            </a:r>
            <a:r>
              <a:rPr lang="en-US" dirty="0" err="1"/>
              <a:t>创建两张表</a:t>
            </a:r>
            <a:r>
              <a:rPr lang="en-US" dirty="0"/>
              <a:t>：</a:t>
            </a:r>
          </a:p>
          <a:p>
            <a:endParaRPr lang="en-US" dirty="0"/>
          </a:p>
          <a:p>
            <a:r>
              <a:rPr lang="en-US" dirty="0" err="1"/>
              <a:t>Session：会话</a:t>
            </a:r>
            <a:r>
              <a:rPr lang="en-US" dirty="0"/>
              <a:t> </a:t>
            </a:r>
            <a:r>
              <a:rPr lang="en-US" dirty="0" err="1"/>
              <a:t>ID、会话名称、创建时间、模型参数</a:t>
            </a:r>
            <a:endParaRPr lang="en-US" dirty="0"/>
          </a:p>
          <a:p>
            <a:r>
              <a:rPr lang="en-US" dirty="0" err="1"/>
              <a:t>Message：归属会话、角色</a:t>
            </a:r>
            <a:r>
              <a:rPr lang="en-US" dirty="0"/>
              <a:t> (user/assistant/tool)、</a:t>
            </a:r>
            <a:r>
              <a:rPr lang="en-US" dirty="0" err="1"/>
              <a:t>内容、时间戳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封装记忆管理器</a:t>
            </a:r>
            <a:r>
              <a:rPr lang="en-US" dirty="0"/>
              <a:t> .../backend/memory/session_memory.py</a:t>
            </a:r>
          </a:p>
          <a:p>
            <a:endParaRPr lang="en-US" dirty="0"/>
          </a:p>
          <a:p>
            <a:r>
              <a:rPr lang="en-US" dirty="0" err="1"/>
              <a:t>新建会话、删除会话、加载历史消息、截断超长上下文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自动上下文裁剪：超过最大</a:t>
            </a:r>
            <a:r>
              <a:rPr lang="en-US" dirty="0"/>
              <a:t> token </a:t>
            </a:r>
            <a:r>
              <a:rPr lang="en-US" dirty="0" err="1"/>
              <a:t>自动删除最早对话，防止溢出</a:t>
            </a:r>
            <a:endParaRPr lang="en-US" dirty="0"/>
          </a:p>
          <a:p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 err="1">
                <a:sym typeface="+mn-ea"/>
              </a:rPr>
              <a:t>后端</a:t>
            </a:r>
            <a:r>
              <a:rPr lang="zh-CN" altLang="en-US" dirty="0">
                <a:sym typeface="+mn-ea"/>
              </a:rPr>
              <a:t>进一步的</a:t>
            </a:r>
            <a:r>
              <a:rPr lang="en-US" dirty="0" err="1">
                <a:sym typeface="+mn-ea"/>
              </a:rPr>
              <a:t>优化</a:t>
            </a:r>
            <a:r>
              <a:rPr lang="zh-CN" altLang="en-US" dirty="0">
                <a:sym typeface="+mn-ea"/>
              </a:rPr>
              <a:t>方向</a:t>
            </a:r>
            <a:r>
              <a:rPr lang="en-US" dirty="0">
                <a:sym typeface="+mn-ea"/>
              </a:rPr>
              <a:t>（Hermes </a:t>
            </a:r>
            <a:r>
              <a:rPr lang="en-US" dirty="0" err="1">
                <a:sym typeface="+mn-ea"/>
              </a:rPr>
              <a:t>生产级特性</a:t>
            </a:r>
            <a:r>
              <a:rPr lang="en-US" dirty="0">
                <a:sym typeface="+mn-ea"/>
              </a:rPr>
              <a:t>）</a:t>
            </a:r>
            <a:endParaRPr lang="en-US" dirty="0"/>
          </a:p>
          <a:p>
            <a:pPr marL="685800" lvl="1" indent="-228600">
              <a:buFont typeface="Arial" panose="020B0604020202020204" pitchFamily="34" charset="0"/>
              <a:buAutoNum type="arabicPeriod"/>
            </a:pPr>
            <a:r>
              <a:rPr lang="en-US" dirty="0" err="1">
                <a:sym typeface="+mn-ea"/>
              </a:rPr>
              <a:t>增加</a:t>
            </a:r>
            <a:r>
              <a:rPr lang="en-US" dirty="0">
                <a:sym typeface="+mn-ea"/>
              </a:rPr>
              <a:t> Token </a:t>
            </a:r>
            <a:r>
              <a:rPr lang="en-US" dirty="0" err="1">
                <a:sym typeface="+mn-ea"/>
              </a:rPr>
              <a:t>计数，控制上下文长度</a:t>
            </a:r>
            <a:endParaRPr lang="en-US" dirty="0"/>
          </a:p>
          <a:p>
            <a:pPr marL="685800" lvl="1" indent="-228600">
              <a:buFont typeface="Arial" panose="020B0604020202020204" pitchFamily="34" charset="0"/>
              <a:buAutoNum type="arabicPeriod"/>
            </a:pPr>
            <a:r>
              <a:rPr lang="en-US" dirty="0" err="1">
                <a:sym typeface="+mn-ea"/>
              </a:rPr>
              <a:t>工具调用超时、异常捕获</a:t>
            </a:r>
            <a:endParaRPr lang="en-US" dirty="0"/>
          </a:p>
          <a:p>
            <a:pPr marL="685800" lvl="1" indent="-228600">
              <a:buFont typeface="Arial" panose="020B0604020202020204" pitchFamily="34" charset="0"/>
              <a:buAutoNum type="arabicPeriod"/>
            </a:pPr>
            <a:r>
              <a:rPr lang="en-US" dirty="0" err="1">
                <a:sym typeface="+mn-ea"/>
              </a:rPr>
              <a:t>对话日志持久化</a:t>
            </a:r>
            <a:endParaRPr lang="en-US" dirty="0"/>
          </a:p>
          <a:p>
            <a:pPr marL="685800" lvl="1" indent="-228600">
              <a:buFont typeface="Arial" panose="020B0604020202020204" pitchFamily="34" charset="0"/>
              <a:buAutoNum type="arabicPeriod"/>
            </a:pPr>
            <a:r>
              <a:rPr lang="en-US" dirty="0">
                <a:sym typeface="+mn-ea"/>
              </a:rPr>
              <a:t>多模型切换支持（Hermes3 / </a:t>
            </a:r>
            <a:r>
              <a:rPr lang="en-US" dirty="0" err="1">
                <a:sym typeface="+mn-ea"/>
              </a:rPr>
              <a:t>其他开源</a:t>
            </a:r>
            <a:r>
              <a:rPr lang="en-US" dirty="0">
                <a:sym typeface="+mn-ea"/>
              </a:rPr>
              <a:t> LLM）</a:t>
            </a:r>
          </a:p>
          <a:p>
            <a:pPr lv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~~~~~~~~~~~~~~~~~~~~~~~~~~~~~~~~~~~~~~~~~~~~~~~~~~~~~~~~~~~~~~~~~~~~~~~~~</a:t>
            </a:r>
          </a:p>
          <a:p>
            <a:r>
              <a:rPr lang="zh-CN" altLang="en-US" dirty="0"/>
              <a:t>下面是第二阶段工作内容。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前端开发</a:t>
            </a:r>
            <a:r>
              <a:rPr lang="en-US" altLang="zh-CN" dirty="0"/>
              <a:t>: </a:t>
            </a:r>
            <a:r>
              <a:rPr lang="en-US" dirty="0" err="1"/>
              <a:t>封装</a:t>
            </a:r>
            <a:r>
              <a:rPr lang="en-US" dirty="0"/>
              <a:t> </a:t>
            </a:r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en-US" dirty="0" err="1"/>
              <a:t>接口层（前后端通信桥梁</a:t>
            </a:r>
            <a:r>
              <a:rPr lang="en-US" dirty="0"/>
              <a:t>）</a:t>
            </a:r>
          </a:p>
          <a:p>
            <a:r>
              <a:rPr lang="en-US" dirty="0" err="1"/>
              <a:t>新建</a:t>
            </a:r>
            <a:r>
              <a:rPr lang="en-US" dirty="0"/>
              <a:t> </a:t>
            </a:r>
            <a:r>
              <a:rPr lang="en-US" dirty="0" err="1"/>
              <a:t>main.py，提供三类接口</a:t>
            </a:r>
            <a:r>
              <a:rPr lang="en-US" dirty="0"/>
              <a:t>：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err="1"/>
              <a:t>会话管理接口</a:t>
            </a:r>
            <a:endParaRPr lang="en-US" dirty="0"/>
          </a:p>
          <a:p>
            <a:pPr marL="1143000" lvl="2" indent="-228600">
              <a:buAutoNum type="arabicPeriod"/>
            </a:pPr>
            <a:r>
              <a:rPr lang="en-US" dirty="0"/>
              <a:t>POST /</a:t>
            </a:r>
            <a:r>
              <a:rPr lang="en-US" dirty="0" err="1"/>
              <a:t>api</a:t>
            </a:r>
            <a:r>
              <a:rPr lang="en-US" dirty="0"/>
              <a:t>/session/create </a:t>
            </a:r>
            <a:r>
              <a:rPr lang="en-US" dirty="0" err="1"/>
              <a:t>新建对话会话</a:t>
            </a:r>
            <a:endParaRPr lang="en-US" dirty="0"/>
          </a:p>
          <a:p>
            <a:pPr marL="1143000" lvl="2" indent="-228600">
              <a:buAutoNum type="arabicPeriod"/>
            </a:pPr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/session/list </a:t>
            </a:r>
            <a:r>
              <a:rPr lang="en-US" dirty="0" err="1"/>
              <a:t>获取所有会话列表</a:t>
            </a:r>
            <a:endParaRPr lang="en-US" dirty="0"/>
          </a:p>
          <a:p>
            <a:pPr marL="1143000" lvl="2" indent="-228600">
              <a:buAutoNum type="arabicPeriod"/>
            </a:pPr>
            <a:r>
              <a:rPr lang="en-US" dirty="0"/>
              <a:t>DELETE /</a:t>
            </a:r>
            <a:r>
              <a:rPr lang="en-US" dirty="0" err="1"/>
              <a:t>api</a:t>
            </a:r>
            <a:r>
              <a:rPr lang="en-US" dirty="0"/>
              <a:t>/session/{id} </a:t>
            </a:r>
            <a:r>
              <a:rPr lang="en-US" dirty="0" err="1"/>
              <a:t>删除会话</a:t>
            </a:r>
            <a:endParaRPr lang="en-US" dirty="0"/>
          </a:p>
          <a:p>
            <a:pPr marL="1143000" lvl="2" indent="-228600">
              <a:buAutoNum type="arabicPeriod"/>
            </a:pPr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/session/{id}/messages </a:t>
            </a:r>
            <a:r>
              <a:rPr lang="en-US" dirty="0" err="1"/>
              <a:t>获取会话历史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Agent </a:t>
            </a:r>
            <a:r>
              <a:rPr lang="en-US" dirty="0" err="1"/>
              <a:t>对话流式接口（SSE</a:t>
            </a:r>
            <a:r>
              <a:rPr lang="en-US" dirty="0"/>
              <a:t>）</a:t>
            </a:r>
          </a:p>
          <a:p>
            <a:pPr marL="1143000" lvl="2" indent="-228600">
              <a:buAutoNum type="arabicPeriod"/>
            </a:pPr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/chat/</a:t>
            </a:r>
            <a:r>
              <a:rPr lang="en-US" dirty="0" err="1"/>
              <a:t>stream?session_id</a:t>
            </a:r>
            <a:r>
              <a:rPr lang="en-US" dirty="0"/>
              <a:t>=xxx</a:t>
            </a:r>
          </a:p>
          <a:p>
            <a:pPr marL="1143000" lvl="2" indent="-228600">
              <a:buAutoNum type="arabicPeriod"/>
            </a:pPr>
            <a:r>
              <a:rPr lang="en-US" dirty="0" err="1"/>
              <a:t>接收用户消息，返回</a:t>
            </a:r>
            <a:r>
              <a:rPr lang="en-US" dirty="0"/>
              <a:t> SSE </a:t>
            </a:r>
            <a:r>
              <a:rPr lang="en-US" dirty="0" err="1"/>
              <a:t>流式文本，同步推送工具调用日志</a:t>
            </a: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err="1"/>
              <a:t>模型</a:t>
            </a:r>
            <a:r>
              <a:rPr lang="en-US" dirty="0"/>
              <a:t> &amp; </a:t>
            </a:r>
            <a:r>
              <a:rPr lang="en-US" dirty="0" err="1"/>
              <a:t>工具配置接口</a:t>
            </a:r>
            <a:endParaRPr lang="en-US" dirty="0"/>
          </a:p>
          <a:p>
            <a:pPr marL="1143000" lvl="2" indent="-228600">
              <a:buAutoNum type="arabicPeriod"/>
            </a:pPr>
            <a:r>
              <a:rPr lang="en-US" dirty="0"/>
              <a:t>GET /</a:t>
            </a:r>
            <a:r>
              <a:rPr lang="en-US" dirty="0" err="1"/>
              <a:t>api</a:t>
            </a:r>
            <a:r>
              <a:rPr lang="en-US" dirty="0"/>
              <a:t>/config/model </a:t>
            </a:r>
            <a:r>
              <a:rPr lang="en-US" dirty="0" err="1"/>
              <a:t>获取当前模型参数</a:t>
            </a:r>
            <a:endParaRPr lang="en-US" dirty="0"/>
          </a:p>
          <a:p>
            <a:pPr marL="1143000" lvl="2" indent="-228600">
              <a:buAutoNum type="arabicPeriod"/>
            </a:pPr>
            <a:r>
              <a:rPr lang="en-US" dirty="0"/>
              <a:t>PUT /</a:t>
            </a:r>
            <a:r>
              <a:rPr lang="en-US" dirty="0" err="1"/>
              <a:t>api</a:t>
            </a:r>
            <a:r>
              <a:rPr lang="en-US" dirty="0"/>
              <a:t>/config/model </a:t>
            </a:r>
            <a:r>
              <a:rPr lang="en-US" dirty="0" err="1"/>
              <a:t>更新温度、上下文长度、工具开关</a:t>
            </a:r>
            <a:endParaRPr lang="en-US" dirty="0"/>
          </a:p>
          <a:p>
            <a:pPr lvl="0" indent="0">
              <a:buNone/>
            </a:pPr>
            <a:endParaRPr lang="en-US" dirty="0"/>
          </a:p>
          <a:p>
            <a:pPr lvl="0" indent="0">
              <a:buNone/>
            </a:pPr>
            <a:endParaRPr lang="en-US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Hermes UI </a:t>
            </a:r>
            <a:r>
              <a:rPr lang="en-US" dirty="0" err="1"/>
              <a:t>特征</a:t>
            </a:r>
            <a:r>
              <a:rPr lang="en-US" dirty="0"/>
              <a:t>：</a:t>
            </a:r>
          </a:p>
          <a:p>
            <a:pPr marL="685800" lvl="1" indent="-228600">
              <a:buAutoNum type="arabicPeriod"/>
            </a:pPr>
            <a:r>
              <a:rPr lang="en-US" dirty="0" err="1"/>
              <a:t>深色极简暗色主题，高对比度文字</a:t>
            </a:r>
            <a:endParaRPr lang="en-US" dirty="0"/>
          </a:p>
          <a:p>
            <a:pPr marL="685800" lvl="1" indent="-228600">
              <a:buAutoNum type="arabicPeriod"/>
            </a:pPr>
            <a:r>
              <a:rPr lang="en-US" dirty="0" err="1"/>
              <a:t>三栏布局：左侧会话列表、中间对话窗口、右侧模型参数</a:t>
            </a:r>
            <a:r>
              <a:rPr lang="en-US" dirty="0"/>
              <a:t> / </a:t>
            </a:r>
            <a:r>
              <a:rPr lang="en-US" dirty="0" err="1"/>
              <a:t>工具面板</a:t>
            </a:r>
            <a:endParaRPr lang="en-US" dirty="0"/>
          </a:p>
          <a:p>
            <a:pPr marL="685800" lvl="1" indent="-228600">
              <a:buAutoNum type="arabicPeriod"/>
            </a:pPr>
            <a:r>
              <a:rPr lang="en-US" dirty="0" err="1"/>
              <a:t>流式打字机输出、代码块高亮、工具调用弹窗日志</a:t>
            </a:r>
            <a:endParaRPr lang="en-US" dirty="0"/>
          </a:p>
          <a:p>
            <a:pPr marL="685800" lvl="1" indent="-228600">
              <a:buAutoNum type="arabicPeriod"/>
            </a:pPr>
            <a:r>
              <a:rPr lang="en-US" dirty="0" err="1"/>
              <a:t>顶部工具栏：新建会话、清空、导出对话、模型切换</a:t>
            </a:r>
            <a:endParaRPr lang="en-US" dirty="0"/>
          </a:p>
          <a:p>
            <a:pPr lvl="0" indent="0">
              <a:buNone/>
            </a:pPr>
            <a:endParaRPr lang="en-US" dirty="0"/>
          </a:p>
          <a:p>
            <a:pPr lvl="0" indent="0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Hermes 对工具调用有专属 Prompt 模板，替换默认系统提示词:</a:t>
            </a:r>
            <a:br>
              <a:rPr lang="en-US"/>
            </a:br>
            <a:r>
              <a:rPr lang="en-US"/>
              <a:t>You are Hermes, a helpful AI agent with access to external tools.</a:t>
            </a:r>
          </a:p>
          <a:p>
            <a:r>
              <a:rPr lang="en-US"/>
              <a:t>When you need to get real-time information or calculate data, use function call format: &lt;&lt;FunctionCall&gt;&gt;[JSON]</a:t>
            </a:r>
          </a:p>
          <a:p>
            <a:r>
              <a:rPr lang="en-US"/>
              <a:t>Do not fabricate data, call tools first if information is missing.</a:t>
            </a:r>
          </a:p>
          <a:p>
            <a:r>
              <a:rPr lang="en-US"/>
              <a:t>After getting tool results, organize a clear answer for user.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800"/>
              <a:t>现代</a:t>
            </a:r>
            <a:r>
              <a:rPr lang="en-US" sz="1800"/>
              <a:t> Agent 集群统一范式：1 个调度主 Agent（Orchestrator）+ N 个专业子 Agent（Worker/Specialist），三种主流组织模式，覆盖 Hermes、AutoGen、LangGraph CrewAI、OpenAI Swarm 等框架。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class MessageBus:</a:t>
            </a:r>
          </a:p>
          <a:p>
            <a:r>
              <a:rPr lang="en-US"/>
              <a:t>    def __init__(self):</a:t>
            </a:r>
          </a:p>
          <a:p>
            <a:r>
              <a:rPr lang="en-US"/>
              <a:t>        self.agent_mailbox = {}  # 每个Agent独立消息队列</a:t>
            </a:r>
          </a:p>
          <a:p>
            <a:r>
              <a:rPr lang="en-US"/>
              <a:t>    </a:t>
            </a:r>
          </a:p>
          <a:p>
            <a:r>
              <a:rPr lang="en-US"/>
              <a:t>    def send(self, msg: AgentMessage):</a:t>
            </a:r>
          </a:p>
          <a:p>
            <a:r>
              <a:rPr lang="en-US"/>
              <a:t>        # 路由消息到接收方信箱</a:t>
            </a:r>
          </a:p>
          <a:p>
            <a:r>
              <a:rPr lang="en-US"/>
              <a:t>        if msg.receiver_id in self.agent_mailbox:</a:t>
            </a:r>
          </a:p>
          <a:p>
            <a:r>
              <a:rPr lang="en-US"/>
              <a:t>            self.agent_mailbox[msg.receiver_id].append(msg)</a:t>
            </a:r>
          </a:p>
          <a:p>
            <a:r>
              <a:rPr lang="en-US"/>
              <a:t>    </a:t>
            </a:r>
          </a:p>
          <a:p>
            <a:r>
              <a:rPr lang="en-US"/>
              <a:t>    def receive(self, agent_id: str) -&gt; Optional[AgentMessage]:</a:t>
            </a:r>
          </a:p>
          <a:p>
            <a:r>
              <a:rPr lang="en-US"/>
              <a:t>        # Agent拉取属于自己的消息</a:t>
            </a:r>
          </a:p>
          <a:p>
            <a:r>
              <a:rPr lang="en-US"/>
              <a:t>        box = self.agent_mailbox.get(agent_id, [])</a:t>
            </a:r>
          </a:p>
          <a:p>
            <a:r>
              <a:rPr lang="en-US"/>
              <a:t>        return box.pop(0) if box else None</a:t>
            </a:r>
          </a:p>
          <a:p>
            <a:endParaRPr lang="en-US"/>
          </a:p>
          <a:p>
            <a:r>
              <a:rPr lang="en-US"/>
              <a:t># 初始化总线</a:t>
            </a:r>
          </a:p>
          <a:p>
            <a:r>
              <a:rPr lang="en-US"/>
              <a:t>bus = MessageBus()</a:t>
            </a:r>
          </a:p>
          <a:p>
            <a:r>
              <a:rPr lang="en-US"/>
              <a:t>main_agent = MainAgent(bus, agent_id="main")</a:t>
            </a:r>
          </a:p>
          <a:p>
            <a:r>
              <a:rPr lang="en-US"/>
              <a:t>search_agent = SearchAgent(bus, agent_id="search_01")</a:t>
            </a:r>
          </a:p>
          <a:p>
            <a:endParaRPr lang="en-US"/>
          </a:p>
          <a:p>
            <a:r>
              <a:rPr lang="en-US"/>
              <a:t># 主Agent下发任务（内部自动调用bus.send）</a:t>
            </a:r>
          </a:p>
          <a:p>
            <a:r>
              <a:rPr lang="en-US"/>
              <a:t>main_agent.assign_task(target_agent="search_01", params={"query":"光伏政策"})</a:t>
            </a:r>
          </a:p>
          <a:p>
            <a:r>
              <a:rPr lang="en-US"/>
              <a:t># 子Agent轮询总线获取任务、执行、回传结果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from langgraph.graph import StateGraph</a:t>
            </a:r>
          </a:p>
          <a:p>
            <a:endParaRPr lang="en-US"/>
          </a:p>
          <a:p>
            <a:r>
              <a:rPr lang="en-US"/>
              <a:t>graph = StateGraph(GlobalState)</a:t>
            </a:r>
          </a:p>
          <a:p>
            <a:r>
              <a:rPr lang="en-US"/>
              <a:t># 注册Agent节点</a:t>
            </a:r>
          </a:p>
          <a:p>
            <a:r>
              <a:rPr lang="en-US"/>
              <a:t>graph.add_node("orchestrator", main_agent.run)</a:t>
            </a:r>
          </a:p>
          <a:p>
            <a:r>
              <a:rPr lang="en-US"/>
              <a:t>graph.add_node("search_agent", search_agent.run)</a:t>
            </a:r>
          </a:p>
          <a:p>
            <a:r>
              <a:rPr lang="en-US"/>
              <a:t>graph.add_node("review_agent", review_agent.run)</a:t>
            </a:r>
          </a:p>
          <a:p>
            <a:r>
              <a:rPr lang="en-US"/>
              <a:t># 流转逻辑</a:t>
            </a:r>
          </a:p>
          <a:p>
            <a:r>
              <a:rPr lang="en-US"/>
              <a:t>graph.add_edge("orchestrator", "search_agent")</a:t>
            </a:r>
          </a:p>
          <a:p>
            <a:r>
              <a:rPr lang="en-US"/>
              <a:t>graph.add_edge("search_agent", "review_agent")</a:t>
            </a:r>
          </a:p>
          <a:p>
            <a:r>
              <a:rPr lang="en-US"/>
              <a:t># 条件协调分支</a:t>
            </a:r>
          </a:p>
          <a:p>
            <a:r>
              <a:rPr lang="en-US"/>
              <a:t>graph.add_conditional_edges(</a:t>
            </a:r>
          </a:p>
          <a:p>
            <a:r>
              <a:rPr lang="en-US"/>
              <a:t>    "review_agent",</a:t>
            </a:r>
          </a:p>
          <a:p>
            <a:r>
              <a:rPr lang="en-US"/>
              <a:t>    judge_review_result,</a:t>
            </a:r>
          </a:p>
          <a:p>
            <a:r>
              <a:rPr lang="en-US"/>
              <a:t>    {"retry": "search_agent", "finish": END}</a:t>
            </a:r>
          </a:p>
          <a:p>
            <a:r>
              <a:rPr lang="en-US"/>
              <a:t>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单 K 线基础特征（单根 K 线 12 维）</a:t>
            </a:r>
          </a:p>
          <a:p>
            <a:r>
              <a:rPr lang="en-US"/>
              <a:t>close /pre_close 当日涨跌幅</a:t>
            </a:r>
          </a:p>
          <a:p>
            <a:r>
              <a:rPr lang="en-US"/>
              <a:t>open/pre_close 开盘相对前日收盘涨跌幅</a:t>
            </a:r>
          </a:p>
          <a:p>
            <a:r>
              <a:rPr lang="en-US"/>
              <a:t>high/pre_close 最高价相对前日收盘</a:t>
            </a:r>
          </a:p>
          <a:p>
            <a:r>
              <a:rPr lang="en-US"/>
              <a:t>low/pre_close 最低价相对前日收盘</a:t>
            </a:r>
          </a:p>
          <a:p>
            <a:r>
              <a:rPr lang="en-US"/>
              <a:t>(high-low)/pre_close 振幅</a:t>
            </a:r>
          </a:p>
          <a:p>
            <a:r>
              <a:rPr lang="en-US"/>
              <a:t>volume / 5 日均量 相对成交量</a:t>
            </a:r>
          </a:p>
          <a:p>
            <a:r>
              <a:rPr lang="en-US"/>
              <a:t>amount / 5 日均成交额</a:t>
            </a:r>
          </a:p>
          <a:p>
            <a:r>
              <a:rPr lang="en-US"/>
              <a:t>close/open 实体相对开盘</a:t>
            </a:r>
          </a:p>
          <a:p>
            <a:r>
              <a:rPr lang="en-US"/>
              <a:t>high/close 上影比例</a:t>
            </a:r>
          </a:p>
          <a:p>
            <a:r>
              <a:rPr lang="en-US"/>
              <a:t>low/close 下影比例</a:t>
            </a:r>
          </a:p>
          <a:p>
            <a:r>
              <a:rPr lang="en-US"/>
              <a:t>5 日均线偏离</a:t>
            </a:r>
          </a:p>
          <a:p>
            <a:r>
              <a:rPr lang="en-US"/>
              <a:t>20 日均线偏离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主 Agent 下发预测任务给行情子 Agent 消息示例：</a:t>
            </a:r>
          </a:p>
          <a:p>
            <a:r>
              <a:rPr lang="en-US"/>
              <a:t>json</a:t>
            </a:r>
          </a:p>
          <a:p>
            <a:r>
              <a:rPr lang="en-US"/>
              <a:t>{</a:t>
            </a:r>
          </a:p>
          <a:p>
            <a:r>
              <a:rPr lang="en-US"/>
              <a:t>  "sender_id": "hermes_main_orchestrator",</a:t>
            </a:r>
          </a:p>
          <a:p>
            <a:r>
              <a:rPr lang="en-US"/>
              <a:t>  "receiver_id": "stock_predict_sub_agent",</a:t>
            </a:r>
          </a:p>
          <a:p>
            <a:r>
              <a:rPr lang="en-US"/>
              <a:t>  "task_id": "stock_pred_0987",</a:t>
            </a:r>
          </a:p>
          <a:p>
            <a:r>
              <a:rPr lang="en-US"/>
              <a:t>  "msg_type": "task_assign",</a:t>
            </a:r>
          </a:p>
          <a:p>
            <a:r>
              <a:rPr lang="en-US"/>
              <a:t>  "content": {</a:t>
            </a:r>
          </a:p>
          <a:p>
            <a:r>
              <a:rPr lang="en-US"/>
              <a:t>    "task_type": "single_predict",</a:t>
            </a:r>
          </a:p>
          <a:p>
            <a:r>
              <a:rPr lang="en-US"/>
              <a:t>    "stock_code": "000001.SZ",</a:t>
            </a:r>
          </a:p>
          <a:p>
            <a:r>
              <a:rPr lang="en-US"/>
              <a:t>    "window_end_date": "2026-07-03"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子 Agent 推理完成回传结果：</a:t>
            </a:r>
          </a:p>
          <a:p>
            <a:r>
              <a:rPr lang="en-US"/>
              <a:t>json</a:t>
            </a:r>
          </a:p>
          <a:p>
            <a:r>
              <a:rPr lang="en-US"/>
              <a:t>{</a:t>
            </a:r>
          </a:p>
          <a:p>
            <a:r>
              <a:rPr lang="en-US"/>
              <a:t>  "sender_id": "stock_predict_sub_agent",</a:t>
            </a:r>
          </a:p>
          <a:p>
            <a:r>
              <a:rPr lang="en-US"/>
              <a:t>  "receiver_id": "hermes_main_orchestrator",</a:t>
            </a:r>
          </a:p>
          <a:p>
            <a:r>
              <a:rPr lang="en-US"/>
              <a:t>  "task_id": "stock_pred_0987",</a:t>
            </a:r>
          </a:p>
          <a:p>
            <a:r>
              <a:rPr lang="en-US"/>
              <a:t>  "msg_type": "task_result",</a:t>
            </a:r>
          </a:p>
          <a:p>
            <a:r>
              <a:rPr lang="en-US"/>
              <a:t>  "content": {</a:t>
            </a:r>
          </a:p>
          <a:p>
            <a:r>
              <a:rPr lang="en-US"/>
              <a:t>    "predict_info": {</a:t>
            </a:r>
          </a:p>
          <a:p>
            <a:r>
              <a:rPr lang="en-US"/>
              <a:t>      "stock_code": "000001.SZ",</a:t>
            </a:r>
          </a:p>
          <a:p>
            <a:r>
              <a:rPr lang="en-US"/>
              <a:t>      "predict_date": "2026-07-06",</a:t>
            </a:r>
          </a:p>
          <a:p>
            <a:r>
              <a:rPr lang="en-US"/>
              <a:t>      "prob_up_1p5": 0.78,</a:t>
            </a:r>
          </a:p>
          <a:p>
            <a:r>
              <a:rPr lang="en-US"/>
              <a:t>      "is_big_rise": true</a:t>
            </a:r>
          </a:p>
          <a:p>
            <a:r>
              <a:rPr lang="en-US"/>
              <a:t>    }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主 Agent 下发批量回测任务：</a:t>
            </a:r>
          </a:p>
          <a:p>
            <a:r>
              <a:rPr lang="en-US"/>
              <a:t>json</a:t>
            </a:r>
          </a:p>
          <a:p>
            <a:r>
              <a:rPr lang="en-US"/>
              <a:t>"content": {</a:t>
            </a:r>
          </a:p>
          <a:p>
            <a:r>
              <a:rPr lang="en-US"/>
              <a:t>  "task_type": "backtest",</a:t>
            </a:r>
          </a:p>
          <a:p>
            <a:r>
              <a:rPr lang="en-US"/>
              <a:t>  "backtest_start": "2026-01-01",</a:t>
            </a:r>
          </a:p>
          <a:p>
            <a:r>
              <a:rPr lang="en-US"/>
              <a:t>  "backtest_end": "2026-07-03",</a:t>
            </a:r>
          </a:p>
          <a:p>
            <a:r>
              <a:rPr lang="en-US"/>
              <a:t>  "target_codes": ["000001.SZ","600036.SH"]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705"/>
            <a:ext cx="9144000" cy="2717800"/>
          </a:xfrm>
        </p:spPr>
        <p:txBody>
          <a:bodyPr>
            <a:normAutofit/>
          </a:bodyPr>
          <a:lstStyle/>
          <a:p>
            <a:r>
              <a:rPr lang="zh-CN" altLang="en-US"/>
              <a:t>手搓类</a:t>
            </a:r>
            <a:r>
              <a:rPr lang="en-US" altLang="zh-CN"/>
              <a:t>Hermes Agent</a:t>
            </a:r>
            <a:br>
              <a:rPr lang="en-US" altLang="zh-CN"/>
            </a:br>
            <a:r>
              <a:rPr lang="zh-CN" altLang="en-US"/>
              <a:t>工作记录</a:t>
            </a: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524000" y="4577398"/>
            <a:ext cx="9144000" cy="165576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/>
              <a:t>从零开始的总体思考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10970"/>
            <a:ext cx="10515600" cy="51854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Hermes </a:t>
            </a:r>
            <a:r>
              <a:rPr lang="en-US" dirty="0" err="1"/>
              <a:t>系列（Hermes</a:t>
            </a:r>
            <a:r>
              <a:rPr lang="en-US" dirty="0"/>
              <a:t> 2/3、Hermes </a:t>
            </a:r>
            <a:r>
              <a:rPr lang="en-US" dirty="0" err="1"/>
              <a:t>Pro）核心分为两层</a:t>
            </a:r>
            <a:r>
              <a:rPr lang="en-US" dirty="0"/>
              <a:t>：</a:t>
            </a:r>
          </a:p>
          <a:p>
            <a:pPr lvl="1"/>
            <a:r>
              <a:rPr lang="en-US" dirty="0" err="1"/>
              <a:t>后端大模型</a:t>
            </a:r>
            <a:r>
              <a:rPr lang="en-US" dirty="0"/>
              <a:t> Agent </a:t>
            </a:r>
            <a:r>
              <a:rPr lang="en-US" dirty="0" err="1"/>
              <a:t>逻辑：工具调用、记忆、规划、多轮对话、函数调用</a:t>
            </a:r>
            <a:r>
              <a:rPr lang="en-US" dirty="0"/>
              <a:t>；</a:t>
            </a:r>
          </a:p>
          <a:p>
            <a:pPr lvl="1"/>
            <a:r>
              <a:rPr lang="en-US" dirty="0" err="1"/>
              <a:t>前端交互界面：侧边栏、对话窗口、模型参数面板、工具配置、历史会话、流式输出，整体极简深色专业风</a:t>
            </a:r>
            <a:r>
              <a:rPr lang="en-US" dirty="0"/>
              <a:t>。</a:t>
            </a:r>
          </a:p>
          <a:p>
            <a:endParaRPr lang="zh-CN" altLang="en-US" dirty="0"/>
          </a:p>
          <a:p>
            <a:r>
              <a:rPr lang="zh-CN" altLang="en-US" dirty="0"/>
              <a:t>实现软件</a:t>
            </a:r>
            <a:r>
              <a:rPr lang="en-US" dirty="0" err="1"/>
              <a:t>栈推荐（兼顾开发速度与生产可用</a:t>
            </a:r>
            <a:r>
              <a:rPr lang="en-US" dirty="0"/>
              <a:t>）</a:t>
            </a:r>
          </a:p>
          <a:p>
            <a:pPr lvl="1"/>
            <a:r>
              <a:rPr lang="en-US" dirty="0" err="1"/>
              <a:t>后端：Python</a:t>
            </a:r>
            <a:r>
              <a:rPr lang="en-US" dirty="0"/>
              <a:t> + </a:t>
            </a:r>
            <a:r>
              <a:rPr lang="en-US" dirty="0" err="1"/>
              <a:t>FastAPI</a:t>
            </a:r>
            <a:r>
              <a:rPr lang="en-US" dirty="0"/>
              <a:t> + </a:t>
            </a:r>
            <a:r>
              <a:rPr lang="en-US" dirty="0" err="1"/>
              <a:t>LangGraph</a:t>
            </a:r>
            <a:r>
              <a:rPr lang="en-US" dirty="0"/>
              <a:t>/</a:t>
            </a:r>
            <a:r>
              <a:rPr lang="en-US" dirty="0" err="1"/>
              <a:t>LangChain（Agent</a:t>
            </a:r>
            <a:r>
              <a:rPr lang="en-US" dirty="0"/>
              <a:t> </a:t>
            </a:r>
            <a:r>
              <a:rPr lang="en-US" dirty="0" err="1"/>
              <a:t>核心</a:t>
            </a:r>
            <a:r>
              <a:rPr lang="en-US" dirty="0"/>
              <a:t>）+ OpenAI/</a:t>
            </a:r>
            <a:r>
              <a:rPr lang="en-US" dirty="0" err="1"/>
              <a:t>Ollama</a:t>
            </a:r>
            <a:r>
              <a:rPr lang="en-US" dirty="0"/>
              <a:t>/ </a:t>
            </a:r>
            <a:r>
              <a:rPr lang="en-US" dirty="0" err="1"/>
              <a:t>通义千问（Hermes</a:t>
            </a:r>
            <a:r>
              <a:rPr lang="en-US" dirty="0"/>
              <a:t> </a:t>
            </a:r>
            <a:r>
              <a:rPr lang="en-US" dirty="0" err="1"/>
              <a:t>本地开源模型</a:t>
            </a:r>
            <a:r>
              <a:rPr lang="en-US" dirty="0"/>
              <a:t>）</a:t>
            </a:r>
          </a:p>
          <a:p>
            <a:pPr lvl="1"/>
            <a:r>
              <a:rPr lang="en-US" dirty="0" err="1"/>
              <a:t>前端：React</a:t>
            </a:r>
            <a:r>
              <a:rPr lang="en-US" dirty="0"/>
              <a:t> + Vite + </a:t>
            </a:r>
            <a:r>
              <a:rPr lang="en-US" dirty="0" err="1"/>
              <a:t>TailwindCSS（复刻</a:t>
            </a:r>
            <a:r>
              <a:rPr lang="en-US" dirty="0"/>
              <a:t> Hermes </a:t>
            </a:r>
            <a:r>
              <a:rPr lang="en-US" dirty="0" err="1"/>
              <a:t>极简深色</a:t>
            </a:r>
            <a:r>
              <a:rPr lang="en-US" dirty="0"/>
              <a:t> UI）+ </a:t>
            </a:r>
            <a:r>
              <a:rPr lang="en-US" dirty="0" err="1"/>
              <a:t>shadcn</a:t>
            </a:r>
            <a:r>
              <a:rPr lang="en-US" dirty="0"/>
              <a:t>/</a:t>
            </a:r>
            <a:r>
              <a:rPr lang="en-US" dirty="0" err="1"/>
              <a:t>ui</a:t>
            </a:r>
            <a:endParaRPr lang="en-US" dirty="0"/>
          </a:p>
          <a:p>
            <a:pPr lvl="1"/>
            <a:r>
              <a:rPr lang="en-US" dirty="0" err="1"/>
              <a:t>数据库：SQLite（本地</a:t>
            </a:r>
            <a:r>
              <a:rPr lang="en-US" dirty="0"/>
              <a:t>）/</a:t>
            </a:r>
            <a:r>
              <a:rPr lang="en-US" dirty="0" err="1"/>
              <a:t>PostgreSQL（线上）存储会话、记忆、工具配置</a:t>
            </a:r>
            <a:endParaRPr lang="en-US" dirty="0"/>
          </a:p>
          <a:p>
            <a:pPr lvl="1"/>
            <a:r>
              <a:rPr lang="en-US" dirty="0" err="1"/>
              <a:t>推理：Ollama</a:t>
            </a:r>
            <a:r>
              <a:rPr lang="en-US" dirty="0"/>
              <a:t> </a:t>
            </a:r>
            <a:r>
              <a:rPr lang="en-US" dirty="0" err="1"/>
              <a:t>本地部署</a:t>
            </a:r>
            <a:r>
              <a:rPr lang="en-US" dirty="0"/>
              <a:t> Hermes </a:t>
            </a:r>
            <a:r>
              <a:rPr lang="en-US" dirty="0" err="1"/>
              <a:t>开源模型，或调用云端</a:t>
            </a:r>
            <a:r>
              <a:rPr lang="en-US" dirty="0"/>
              <a:t> API</a:t>
            </a:r>
          </a:p>
          <a:p>
            <a:pPr lvl="1"/>
            <a:endParaRPr lang="en-US" dirty="0"/>
          </a:p>
          <a:p>
            <a:pPr lvl="0"/>
            <a:r>
              <a:rPr lang="zh-CN" altLang="en-US" dirty="0"/>
              <a:t>工作计划</a:t>
            </a:r>
          </a:p>
          <a:p>
            <a:pPr lvl="1"/>
            <a:r>
              <a:rPr lang="zh-CN" altLang="en-US" dirty="0"/>
              <a:t>从零复刻 Hermes 风格 AI Agent最小核心实现</a:t>
            </a:r>
          </a:p>
          <a:p>
            <a:pPr lvl="1"/>
            <a:r>
              <a:rPr lang="zh-CN" altLang="en-US" dirty="0"/>
              <a:t>第二阶段：复刻 Hermes 风格前端界面（步骤 9~16）</a:t>
            </a:r>
          </a:p>
          <a:p>
            <a:pPr lvl="1"/>
            <a:r>
              <a:rPr lang="zh-CN" altLang="en-US" dirty="0"/>
              <a:t>整合、调试、增强 Hermes Agent 专属特性</a:t>
            </a:r>
          </a:p>
          <a:p>
            <a:pPr lvl="1"/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/>
              <a:t>Codebase</a:t>
            </a:r>
            <a:r>
              <a:rPr lang="zh-CN" altLang="en-US" b="0"/>
              <a:t>目录结构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6463030" cy="4351655"/>
          </a:xfrm>
        </p:spPr>
        <p:txBody>
          <a:bodyPr/>
          <a:lstStyle/>
          <a:p>
            <a:r>
              <a:rPr lang="en-US" dirty="0" err="1"/>
              <a:t>myagent</a:t>
            </a:r>
            <a:r>
              <a:rPr lang="en-US" dirty="0"/>
              <a:t>-agent/</a:t>
            </a:r>
          </a:p>
          <a:p>
            <a:r>
              <a:rPr lang="en-US" dirty="0"/>
              <a:t>├── backend/        # </a:t>
            </a:r>
            <a:r>
              <a:rPr lang="en-US" dirty="0" err="1"/>
              <a:t>Agent服务、模型、工具、API</a:t>
            </a:r>
            <a:endParaRPr lang="en-US" dirty="0"/>
          </a:p>
          <a:p>
            <a:r>
              <a:rPr lang="en-US" dirty="0"/>
              <a:t>├── frontend/       # </a:t>
            </a:r>
            <a:r>
              <a:rPr lang="en-US" dirty="0" err="1"/>
              <a:t>Hermes风格前端界面</a:t>
            </a:r>
            <a:endParaRPr lang="en-US" dirty="0"/>
          </a:p>
          <a:p>
            <a:r>
              <a:rPr lang="en-US" dirty="0"/>
              <a:t>├── </a:t>
            </a:r>
            <a:r>
              <a:rPr lang="en-US" dirty="0" err="1"/>
              <a:t>db</a:t>
            </a:r>
            <a:r>
              <a:rPr lang="en-US" dirty="0"/>
              <a:t>/             # </a:t>
            </a:r>
            <a:r>
              <a:rPr lang="en-US" dirty="0" err="1"/>
              <a:t>会话数据库</a:t>
            </a:r>
            <a:endParaRPr lang="en-US" dirty="0"/>
          </a:p>
          <a:p>
            <a:r>
              <a:rPr lang="en-US" dirty="0"/>
              <a:t>├── config/         # </a:t>
            </a:r>
            <a:r>
              <a:rPr lang="en-US" dirty="0" err="1"/>
              <a:t>模型、工具配置文件</a:t>
            </a:r>
            <a:endParaRPr lang="en-US" dirty="0"/>
          </a:p>
          <a:p>
            <a:r>
              <a:rPr lang="en-US" dirty="0"/>
              <a:t>└── docs/</a:t>
            </a:r>
          </a:p>
          <a:p>
            <a:endParaRPr lang="en-US" dirty="0"/>
          </a:p>
          <a:p>
            <a:r>
              <a:rPr lang="zh-CN" altLang="en-US" dirty="0"/>
              <a:t>实验使用的模型</a:t>
            </a:r>
            <a:r>
              <a:rPr lang="en-US" altLang="zh-CN" dirty="0"/>
              <a:t>: </a:t>
            </a:r>
            <a:r>
              <a:rPr lang="en-US" altLang="zh-CN" dirty="0" err="1"/>
              <a:t>ollama</a:t>
            </a:r>
            <a:r>
              <a:rPr lang="en-US" altLang="zh-CN" dirty="0"/>
              <a:t> pull hermes3:8b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587615" y="1825625"/>
            <a:ext cx="3757930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/>
              <a:t># .../backend/.env</a:t>
            </a:r>
          </a:p>
          <a:p>
            <a:pPr algn="l"/>
            <a:r>
              <a:rPr lang="en-US" sz="1400" dirty="0"/>
              <a:t>MODEL_NAME=hermes3:8b</a:t>
            </a:r>
          </a:p>
          <a:p>
            <a:pPr algn="l"/>
            <a:r>
              <a:rPr lang="en-US" sz="1400" dirty="0"/>
              <a:t>OLLAMA_BASE_URL=http://127.0.0.1:11434</a:t>
            </a:r>
          </a:p>
          <a:p>
            <a:pPr algn="l"/>
            <a:r>
              <a:rPr lang="en-US" sz="1400" dirty="0"/>
              <a:t>DB_PATH=../</a:t>
            </a:r>
            <a:r>
              <a:rPr lang="en-US" sz="1400" dirty="0" err="1"/>
              <a:t>db</a:t>
            </a:r>
            <a:r>
              <a:rPr lang="en-US" sz="1400" dirty="0"/>
              <a:t>/</a:t>
            </a:r>
            <a:r>
              <a:rPr lang="en-US" sz="1400" dirty="0" err="1"/>
              <a:t>agent.db</a:t>
            </a:r>
            <a:endParaRPr lang="en-US" sz="1400" dirty="0"/>
          </a:p>
          <a:p>
            <a:pPr algn="l"/>
            <a:r>
              <a:rPr lang="en-US" sz="1400" dirty="0"/>
              <a:t>MAX_HISTORY_TOKENS=4096</a:t>
            </a:r>
          </a:p>
          <a:p>
            <a:pPr algn="l"/>
            <a:r>
              <a:rPr lang="en-US" sz="1400" dirty="0"/>
              <a:t>STREAM_OUTPUT=true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413385"/>
          </a:xfrm>
        </p:spPr>
        <p:txBody>
          <a:bodyPr>
            <a:normAutofit fontScale="90000"/>
          </a:bodyPr>
          <a:lstStyle/>
          <a:p>
            <a:r>
              <a:rPr lang="en-US" b="0"/>
              <a:t>整合、调试、增强 Hermes Agent 专属特性(</a:t>
            </a:r>
            <a:r>
              <a:rPr lang="zh-CN" altLang="en-US" b="0"/>
              <a:t>第三阶段工作内容</a:t>
            </a:r>
            <a:r>
              <a:rPr lang="en-US" b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14400"/>
            <a:ext cx="10515600" cy="5850890"/>
          </a:xfrm>
        </p:spPr>
        <p:txBody>
          <a:bodyPr>
            <a:normAutofit fontScale="70000"/>
          </a:bodyPr>
          <a:lstStyle/>
          <a:p>
            <a:r>
              <a:rPr lang="zh-CN" altLang="en-US"/>
              <a:t>在完成第二阶段工作基础上，有了完整的</a:t>
            </a:r>
            <a:r>
              <a:rPr lang="en-US" altLang="zh-CN"/>
              <a:t>UI</a:t>
            </a:r>
            <a:r>
              <a:rPr lang="zh-CN" altLang="en-US"/>
              <a:t>界面，那么设置Hermes 专属 Prompt 优化（关键！还原原生 Hermes 能力）</a:t>
            </a:r>
          </a:p>
          <a:p>
            <a:r>
              <a:rPr lang="zh-CN" altLang="en-US"/>
              <a:t>增加对话导出功能</a:t>
            </a:r>
            <a:r>
              <a:rPr lang="en-US" altLang="zh-CN"/>
              <a:t>: </a:t>
            </a:r>
            <a:r>
              <a:rPr lang="zh-CN" altLang="en-US"/>
              <a:t>前端增加导出按钮，将当前会话导出为 Markdown / JSON 文件，Hermes 原生自带该功能。</a:t>
            </a:r>
          </a:p>
          <a:p>
            <a:r>
              <a:rPr lang="zh-CN" altLang="en-US"/>
              <a:t>添加停止生成功能</a:t>
            </a:r>
            <a:r>
              <a:rPr lang="en-US" altLang="zh-CN"/>
              <a:t>: </a:t>
            </a:r>
            <a:r>
              <a:rPr lang="zh-CN" altLang="en-US"/>
              <a:t>前端发送中断请求，后端终止 LLM 流式输出，清空当前生成缓存。</a:t>
            </a:r>
          </a:p>
          <a:p>
            <a:r>
              <a:rPr lang="zh-CN" altLang="en-US"/>
              <a:t>本地打包部署</a:t>
            </a:r>
          </a:p>
          <a:p>
            <a:pPr lvl="1"/>
            <a:r>
              <a:rPr lang="zh-CN" altLang="en-US"/>
              <a:t>后端打包：可使用 docker 封装 FastAPI 服务</a:t>
            </a:r>
          </a:p>
          <a:p>
            <a:pPr lvl="1"/>
            <a:r>
              <a:rPr lang="zh-CN" altLang="en-US"/>
              <a:t>前端打包：npm run build，静态文件托管在 Nginx</a:t>
            </a:r>
          </a:p>
          <a:p>
            <a:pPr lvl="1"/>
            <a:r>
              <a:rPr lang="zh-CN" altLang="en-US"/>
              <a:t>一键启动脚本：同时启动 Ollama、后端、前端</a:t>
            </a:r>
          </a:p>
          <a:p>
            <a:r>
              <a:rPr lang="zh-CN" altLang="en-US"/>
              <a:t>功能扩展进阶（可选 Hermes Pro 特性）</a:t>
            </a:r>
          </a:p>
          <a:p>
            <a:pPr lvl="1"/>
            <a:r>
              <a:rPr lang="zh-CN" altLang="en-US"/>
              <a:t>多文件上传解析工具</a:t>
            </a:r>
          </a:p>
          <a:p>
            <a:pPr lvl="1"/>
            <a:r>
              <a:rPr lang="zh-CN" altLang="en-US"/>
              <a:t>联网搜索工具（SerpAPI）</a:t>
            </a:r>
          </a:p>
          <a:p>
            <a:pPr lvl="1"/>
            <a:r>
              <a:rPr lang="zh-CN" altLang="en-US"/>
              <a:t>Agent 多步骤复杂任务规划</a:t>
            </a:r>
          </a:p>
          <a:p>
            <a:pPr lvl="1"/>
            <a:r>
              <a:rPr lang="zh-CN" altLang="en-US"/>
              <a:t>对话标签分类、收藏会话</a:t>
            </a:r>
          </a:p>
          <a:p>
            <a:pPr lvl="1"/>
            <a:r>
              <a:rPr lang="zh-CN" altLang="en-US"/>
              <a:t>多用户登录隔离会话</a:t>
            </a:r>
          </a:p>
          <a:p>
            <a:r>
              <a:rPr lang="zh-CN" altLang="en-US"/>
              <a:t>整体测试验收清单</a:t>
            </a:r>
          </a:p>
          <a:p>
            <a:pPr lvl="1"/>
            <a:r>
              <a:rPr lang="zh-CN" altLang="en-US"/>
              <a:t>UI 布局、配色、交互与 Hermes 对齐</a:t>
            </a:r>
          </a:p>
          <a:p>
            <a:pPr lvl="1"/>
            <a:r>
              <a:rPr lang="zh-CN" altLang="en-US"/>
              <a:t>模型正常流式输出，无卡顿</a:t>
            </a:r>
          </a:p>
          <a:p>
            <a:pPr lvl="1"/>
            <a:r>
              <a:rPr lang="zh-CN" altLang="en-US"/>
              <a:t>工具自动调用、日志可视化展示</a:t>
            </a:r>
          </a:p>
          <a:p>
            <a:pPr lvl="1"/>
            <a:r>
              <a:rPr lang="zh-CN" altLang="en-US"/>
              <a:t>多会话切换、历史记忆持久化</a:t>
            </a:r>
          </a:p>
          <a:p>
            <a:pPr lvl="1"/>
            <a:r>
              <a:rPr lang="zh-CN" altLang="en-US"/>
              <a:t>模型参数实时生效</a:t>
            </a:r>
          </a:p>
          <a:p>
            <a:pPr lvl="1"/>
            <a:r>
              <a:rPr lang="zh-CN" altLang="en-US"/>
              <a:t>异常处理：模型超时、工具报错、输入超长文本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780" y="2239645"/>
            <a:ext cx="10515600" cy="1325563"/>
          </a:xfrm>
        </p:spPr>
        <p:txBody>
          <a:bodyPr/>
          <a:lstStyle/>
          <a:p>
            <a:pPr algn="ctr"/>
            <a:r>
              <a:rPr lang="en-US" sz="2800" b="0"/>
              <a:t>多 Agent 分层架构：主 Agent + 子 Agent 完整体系详解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/>
              <a:t>多 Agent 标准工作结构（</a:t>
            </a:r>
            <a:r>
              <a:rPr lang="en-US" altLang="zh-CN" b="0"/>
              <a:t>4</a:t>
            </a:r>
            <a:r>
              <a:rPr lang="zh-CN" altLang="en-US" b="0"/>
              <a:t> 大类主流架构，附适用场景 + 实例）</a:t>
            </a:r>
            <a:r>
              <a:rPr lang="en-US" altLang="zh-CN" b="0"/>
              <a:t>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831080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sz="2665"/>
              <a:t>架构 1：分层串行流水线（顺序执行）</a:t>
            </a:r>
            <a:endParaRPr lang="en-US"/>
          </a:p>
          <a:p>
            <a:r>
              <a:rPr lang="en-US"/>
              <a:t>结构逻辑</a:t>
            </a:r>
          </a:p>
          <a:p>
            <a:pPr lvl="1"/>
            <a:r>
              <a:rPr lang="en-US"/>
              <a:t>主 Agent 下发任务 → 子 AgentA 完成一段 → 结果传给子 AgentB → … 全部完成后主 Agent 汇总输出</a:t>
            </a:r>
          </a:p>
          <a:p>
            <a:r>
              <a:rPr lang="en-US"/>
              <a:t>适用目的</a:t>
            </a:r>
          </a:p>
          <a:p>
            <a:pPr lvl="1"/>
            <a:r>
              <a:rPr lang="en-US"/>
              <a:t>任务有固定先后依赖、流程标准化（文档处理、数据分析、代码开发）</a:t>
            </a:r>
          </a:p>
          <a:p>
            <a:r>
              <a:rPr lang="en-US"/>
              <a:t>实例：AI 自动化报表生成系统</a:t>
            </a:r>
          </a:p>
          <a:p>
            <a:pPr lvl="1"/>
            <a:r>
              <a:rPr lang="en-US"/>
              <a:t>主 Agent：任务总调度、需求解析、最终报告整合</a:t>
            </a:r>
          </a:p>
          <a:p>
            <a:pPr lvl="1"/>
            <a:r>
              <a:rPr lang="en-US"/>
              <a:t>子 Agent1（数据提取 Agent）：读取 Excel / 数据库原始数据</a:t>
            </a:r>
          </a:p>
          <a:p>
            <a:pPr lvl="1"/>
            <a:r>
              <a:rPr lang="en-US"/>
              <a:t>子 Agent2（数据清洗 Agent）：去空值、异常值、单位统一</a:t>
            </a:r>
          </a:p>
          <a:p>
            <a:pPr lvl="1"/>
            <a:r>
              <a:rPr lang="en-US"/>
              <a:t>子 Agent3（图表计算 Agent）：计算增长率、均值、同比指标</a:t>
            </a:r>
          </a:p>
          <a:p>
            <a:pPr lvl="1"/>
            <a:r>
              <a:rPr lang="en-US"/>
              <a:t>子 Agent4（文案撰写 Agent）：生成分析文字、结论建议</a:t>
            </a:r>
          </a:p>
          <a:p>
            <a:r>
              <a:rPr lang="en-US"/>
              <a:t>执行流程</a:t>
            </a:r>
          </a:p>
          <a:p>
            <a:pPr lvl="1"/>
            <a:r>
              <a:rPr lang="en-US"/>
              <a:t>用户需求 → 主 Agent 拆分 4 个子任务 → 依次调用 4 个子 Agent → 逐级传递中间数据 → 主 Agent 拼接完整报表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72465"/>
          </a:xfrm>
        </p:spPr>
        <p:txBody>
          <a:bodyPr/>
          <a:lstStyle/>
          <a:p>
            <a:r>
              <a:rPr lang="zh-CN" altLang="en-US" b="0"/>
              <a:t>多 Agent 标准工作结构（</a:t>
            </a:r>
            <a:r>
              <a:rPr lang="en-US" altLang="zh-CN" b="0"/>
              <a:t>4</a:t>
            </a:r>
            <a:r>
              <a:rPr lang="zh-CN" altLang="en-US" b="0"/>
              <a:t> 大类主流架构，附适用场景 + 实例）</a:t>
            </a:r>
            <a:r>
              <a:rPr lang="en-US" altLang="zh-CN" b="0"/>
              <a:t>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437640"/>
            <a:ext cx="10515600" cy="5320665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sz="2665"/>
              <a:t>架构 2：并行辐射架构（主 Agent 分发，子 Agent 同步执行）</a:t>
            </a:r>
          </a:p>
          <a:p>
            <a:r>
              <a:rPr lang="en-US"/>
              <a:t>结构逻辑</a:t>
            </a:r>
          </a:p>
          <a:p>
            <a:pPr lvl="1"/>
            <a:r>
              <a:rPr lang="en-US"/>
              <a:t>主 Agent 一次拆分多个无依赖子任务，同时下发给多个子 Agent 并行执行，全部完成后主 Agent 聚合结果</a:t>
            </a:r>
          </a:p>
          <a:p>
            <a:r>
              <a:rPr lang="en-US"/>
              <a:t>适用目的</a:t>
            </a:r>
          </a:p>
          <a:p>
            <a:pPr lvl="1"/>
            <a:r>
              <a:rPr lang="en-US"/>
              <a:t>多维度并行调研、多方案对比、多工具同步查询，提升速度</a:t>
            </a:r>
          </a:p>
          <a:p>
            <a:r>
              <a:rPr lang="en-US"/>
              <a:t>实例：Hermes 市场调研 Agent 集群</a:t>
            </a:r>
          </a:p>
          <a:p>
            <a:pPr lvl="1"/>
            <a:r>
              <a:rPr lang="en-US"/>
              <a:t>主 Agent：拆解调研需求、汇总多方信息、统一输出</a:t>
            </a:r>
          </a:p>
          <a:p>
            <a:pPr lvl="1"/>
            <a:r>
              <a:rPr lang="en-US"/>
              <a:t>子 Agent1：行业资讯检索 Agent（全网新闻）</a:t>
            </a:r>
          </a:p>
          <a:p>
            <a:pPr lvl="1"/>
            <a:r>
              <a:rPr lang="en-US"/>
              <a:t>子 Agent2：竞品数据分析 Agent（竞品定价、销量）</a:t>
            </a:r>
          </a:p>
          <a:p>
            <a:pPr lvl="1"/>
            <a:r>
              <a:rPr lang="en-US"/>
              <a:t>子 Agent3：用户评论分析 Agent（电商评价、社交舆情）</a:t>
            </a:r>
          </a:p>
          <a:p>
            <a:pPr lvl="1"/>
            <a:r>
              <a:rPr lang="en-US"/>
              <a:t>子 Agent4：政策解读 Agent（行业法规、补贴政策）</a:t>
            </a:r>
          </a:p>
          <a:p>
            <a:r>
              <a:rPr lang="en-US"/>
              <a:t>执行流程</a:t>
            </a:r>
          </a:p>
          <a:p>
            <a:pPr lvl="1"/>
            <a:r>
              <a:rPr lang="en-US"/>
              <a:t>用户：“分析 2026 新能源市场机会”</a:t>
            </a:r>
          </a:p>
          <a:p>
            <a:pPr lvl="1"/>
            <a:r>
              <a:rPr lang="en-US"/>
              <a:t>主 Agent 拆分 4 独立任务，4 个子 Agent 同步并行工作，全部返回后由主 Agent 整合统一调研报告。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548640"/>
          </a:xfrm>
        </p:spPr>
        <p:txBody>
          <a:bodyPr/>
          <a:lstStyle/>
          <a:p>
            <a:r>
              <a:rPr lang="zh-CN" altLang="en-US" b="0"/>
              <a:t>多 Agent 标准工作结构（</a:t>
            </a:r>
            <a:r>
              <a:rPr lang="en-US" altLang="zh-CN" b="0"/>
              <a:t>4</a:t>
            </a:r>
            <a:r>
              <a:rPr lang="zh-CN" altLang="en-US" b="0"/>
              <a:t> 大类主流架构，附适用场景 + 实例）</a:t>
            </a:r>
            <a:r>
              <a:rPr lang="en-US" altLang="zh-CN" b="0"/>
              <a:t>- 3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079500"/>
            <a:ext cx="10515600" cy="5577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65"/>
              <a:t>架构 3：递归委派 / 层级树状架构（主 - 一级子 Agent - 二级子 Agent）</a:t>
            </a:r>
          </a:p>
          <a:p>
            <a:r>
              <a:rPr lang="en-US"/>
              <a:t>结构逻辑</a:t>
            </a:r>
          </a:p>
          <a:p>
            <a:pPr lvl="1"/>
            <a:r>
              <a:rPr lang="en-US"/>
              <a:t>主 Agent 不直接调用底层工具，一级子 Agent 再二次拆解任务，生成二级子 Agent 执行细分操作，多层级递归委派</a:t>
            </a:r>
          </a:p>
          <a:p>
            <a:r>
              <a:rPr lang="en-US"/>
              <a:t>适用目的</a:t>
            </a:r>
          </a:p>
          <a:p>
            <a:pPr lvl="1"/>
            <a:r>
              <a:rPr lang="en-US"/>
              <a:t>复杂长链条复杂任务（软件开发、项目规划、科研论文、机器人多工序操作）</a:t>
            </a:r>
          </a:p>
          <a:p>
            <a:r>
              <a:rPr lang="en-US"/>
              <a:t>实例：AI 代码开发 Agent 树</a:t>
            </a:r>
          </a:p>
          <a:p>
            <a:pPr lvl="1"/>
            <a:r>
              <a:rPr lang="en-US"/>
              <a:t>顶层主 Agent：项目总负责人，拆解前后端需求</a:t>
            </a:r>
          </a:p>
          <a:p>
            <a:pPr lvl="1"/>
            <a:r>
              <a:rPr lang="en-US"/>
              <a:t>一级子 Agent 1（后端开发 Agent）：再拆分 2 个二级子 Agent</a:t>
            </a:r>
          </a:p>
          <a:p>
            <a:pPr lvl="2"/>
            <a:r>
              <a:rPr lang="en-US"/>
              <a:t>二级子 Agent：Agent 1-1数据库设计 Agent、Agent 1-2接口编写 Agent</a:t>
            </a:r>
          </a:p>
          <a:p>
            <a:pPr lvl="1"/>
            <a:r>
              <a:rPr lang="en-US"/>
              <a:t>一级子 Agent 2（前端开发 Agent）：再拆分 2 个二级子 Agent</a:t>
            </a:r>
          </a:p>
          <a:p>
            <a:pPr lvl="2"/>
            <a:r>
              <a:rPr lang="en-US"/>
              <a:t>二级子 Agent：Agent 2-1页面 UI Agent、Agent 2-2交互逻辑 Agent</a:t>
            </a:r>
          </a:p>
          <a:p>
            <a:pPr lvl="1"/>
            <a:r>
              <a:rPr lang="en-US"/>
              <a:t>一级子 Agent 3（测试 Agent）：Agent 3-1单元测试 Agent、Agent 3-2联调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548640"/>
          </a:xfrm>
        </p:spPr>
        <p:txBody>
          <a:bodyPr/>
          <a:lstStyle/>
          <a:p>
            <a:r>
              <a:rPr lang="zh-CN" altLang="en-US" b="0"/>
              <a:t>多 Agent 标准工作结构（</a:t>
            </a:r>
            <a:r>
              <a:rPr lang="en-US" altLang="zh-CN" b="0"/>
              <a:t>4</a:t>
            </a:r>
            <a:r>
              <a:rPr lang="zh-CN" altLang="en-US" b="0"/>
              <a:t> 大类主流架构，附适用场景 + 实例）</a:t>
            </a:r>
            <a:r>
              <a:rPr lang="en-US" altLang="zh-CN" b="0"/>
              <a:t>- 4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079500"/>
            <a:ext cx="10515600" cy="5577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65"/>
              <a:t>架构 4：循环反思评审架构（主 Agent + 执行子 Agent + 评审子 Agent）</a:t>
            </a:r>
          </a:p>
          <a:p>
            <a:r>
              <a:rPr lang="en-US"/>
              <a:t>结构逻辑</a:t>
            </a:r>
          </a:p>
          <a:p>
            <a:pPr lvl="1"/>
            <a:r>
              <a:rPr lang="en-US"/>
              <a:t>主 Agent 下发任务给执行子 Agent 生成初稿，评审子 Agent 校验结果，不合格则回传给执行 Agent 迭代修改，循环至达标</a:t>
            </a:r>
          </a:p>
          <a:p>
            <a:pPr lvl="1"/>
            <a:r>
              <a:rPr lang="en-US"/>
              <a:t>适用目的：需要高准确率、强校验场景（代码、合同、数学计算、论文）</a:t>
            </a:r>
          </a:p>
          <a:p>
            <a:pPr lvl="0"/>
            <a:r>
              <a:rPr lang="en-US"/>
              <a:t>实例：数学解题 Agent</a:t>
            </a:r>
          </a:p>
          <a:p>
            <a:pPr lvl="1"/>
            <a:r>
              <a:rPr lang="en-US"/>
              <a:t>主 Agent：分发题目、汇总最终答案</a:t>
            </a:r>
          </a:p>
          <a:p>
            <a:pPr lvl="1"/>
            <a:r>
              <a:rPr lang="en-US"/>
              <a:t>执行子 Agent：分步列式计算</a:t>
            </a:r>
          </a:p>
          <a:p>
            <a:pPr lvl="1"/>
            <a:r>
              <a:rPr lang="en-US"/>
              <a:t>评审子 Agent：验算步骤、检查逻辑错误，发现错误返回重算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846455"/>
          </a:xfrm>
        </p:spPr>
        <p:txBody>
          <a:bodyPr/>
          <a:lstStyle/>
          <a:p>
            <a:r>
              <a:rPr lang="zh-CN" altLang="en-US" b="0"/>
              <a:t>关于</a:t>
            </a:r>
            <a:r>
              <a:rPr lang="en-US" b="0"/>
              <a:t>Agent</a:t>
            </a:r>
            <a:r>
              <a:rPr lang="zh-CN" altLang="en-US" b="0"/>
              <a:t>的通识知识</a:t>
            </a:r>
            <a:r>
              <a:rPr lang="en-US" altLang="zh-CN" b="0"/>
              <a:t>(General Knowledge)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315085"/>
            <a:ext cx="10515600" cy="5403850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通用核心模块总览: 所有 Agent（主 / 子）都会交互 4 类基础模块:</a:t>
            </a:r>
          </a:p>
          <a:p>
            <a:r>
              <a:rPr lang="en-US"/>
              <a:t>Tools（工具：单次轻量操作，计算器、文件读写、联网搜索）</a:t>
            </a:r>
          </a:p>
          <a:p>
            <a:r>
              <a:rPr lang="en-US"/>
              <a:t>Skills（技能：工具组合成固定流程，如 “读取 Excel + 统计”）</a:t>
            </a:r>
          </a:p>
          <a:p>
            <a:r>
              <a:rPr lang="en-US"/>
              <a:t>Memory（记忆：短期对话上下文、长期向量知识库）</a:t>
            </a:r>
          </a:p>
          <a:p>
            <a:r>
              <a:rPr lang="en-US"/>
              <a:t>Planner（规划器：任务拆分、步骤排序）</a:t>
            </a:r>
          </a:p>
          <a:p>
            <a:r>
              <a:rPr lang="en-US"/>
              <a:t>Message Bus（消息总线：Agent 之间通信载体）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367030"/>
          </a:xfrm>
        </p:spPr>
        <p:txBody>
          <a:bodyPr>
            <a:normAutofit fontScale="90000"/>
          </a:bodyPr>
          <a:lstStyle/>
          <a:p>
            <a:r>
              <a:rPr lang="zh-CN" altLang="en-US" b="0"/>
              <a:t>关于</a:t>
            </a:r>
            <a:r>
              <a:rPr lang="en-US" b="0"/>
              <a:t>Agent</a:t>
            </a:r>
            <a:r>
              <a:rPr lang="zh-CN" altLang="en-US" b="0"/>
              <a:t>的通识知识</a:t>
            </a:r>
            <a:r>
              <a:rPr lang="en-US" altLang="zh-CN" b="0"/>
              <a:t>(General Knowledge)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32790"/>
            <a:ext cx="10515600" cy="6125210"/>
          </a:xfrm>
        </p:spPr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sz="2400"/>
              <a:t>Agent ↔ Tools 工具交互:</a:t>
            </a:r>
          </a:p>
          <a:p>
            <a:r>
              <a:rPr lang="en-US"/>
              <a:t>作用</a:t>
            </a:r>
          </a:p>
          <a:p>
            <a:pPr lvl="1"/>
            <a:r>
              <a:rPr lang="en-US"/>
              <a:t>Tools 是最小执行单元，Agent 自身无外部操作能力，必须调用工具完成真实操作</a:t>
            </a:r>
          </a:p>
          <a:p>
            <a:pPr lvl="0"/>
            <a:r>
              <a:rPr lang="en-US"/>
              <a:t>交互接口标准：函数调用 JSON 接口（Hermes、OpenAI 统一规范）</a:t>
            </a:r>
          </a:p>
          <a:p>
            <a:pPr lvl="1"/>
            <a:r>
              <a:rPr lang="en-US"/>
              <a:t>接口定义示例（标准 FunctionCall 格式）</a:t>
            </a:r>
          </a:p>
          <a:p>
            <a:pPr lvl="1"/>
            <a:r>
              <a:rPr lang="en-US"/>
              <a:t>入参接口（Agent 输出调用指令）</a:t>
            </a:r>
          </a:p>
          <a:p>
            <a:pPr marL="457200" lvl="1" indent="0">
              <a:buNone/>
            </a:pPr>
            <a:r>
              <a:rPr lang="en-US"/>
              <a:t>{</a:t>
            </a:r>
          </a:p>
          <a:p>
            <a:pPr marL="457200" lvl="1" indent="0">
              <a:buNone/>
            </a:pPr>
            <a:r>
              <a:rPr lang="en-US"/>
              <a:t>  "tool_name": "web_search",</a:t>
            </a:r>
          </a:p>
          <a:p>
            <a:pPr marL="457200" lvl="1" indent="0">
              <a:buNone/>
            </a:pPr>
            <a:r>
              <a:rPr lang="en-US"/>
              <a:t>  "arguments": {</a:t>
            </a:r>
          </a:p>
          <a:p>
            <a:pPr marL="457200" lvl="1" indent="0">
              <a:buNone/>
            </a:pPr>
            <a:r>
              <a:rPr lang="en-US"/>
              <a:t>    "query": "2026新能源汽车销量",</a:t>
            </a:r>
          </a:p>
          <a:p>
            <a:pPr marL="457200" lvl="1" indent="0">
              <a:buNone/>
            </a:pPr>
            <a:r>
              <a:rPr lang="en-US"/>
              <a:t>    "limit": 5</a:t>
            </a:r>
          </a:p>
          <a:p>
            <a:pPr marL="457200" lvl="1" indent="0">
              <a:buNone/>
            </a:pPr>
            <a:r>
              <a:rPr lang="en-US"/>
              <a:t>  },</a:t>
            </a:r>
          </a:p>
          <a:p>
            <a:pPr marL="457200" lvl="1" indent="0">
              <a:buNone/>
            </a:pPr>
            <a:r>
              <a:rPr lang="en-US"/>
              <a:t>  "call_id": "task_001"</a:t>
            </a:r>
          </a:p>
          <a:p>
            <a:pPr marL="457200" lvl="1" indent="0">
              <a:buNone/>
            </a:pPr>
            <a:r>
              <a:rPr lang="en-US"/>
              <a:t>}</a:t>
            </a:r>
          </a:p>
          <a:p>
            <a:pPr lvl="1"/>
            <a:r>
              <a:rPr lang="en-US"/>
              <a:t>工具返回结果接口（回传给 Agent）</a:t>
            </a:r>
          </a:p>
          <a:p>
            <a:pPr marL="457200" lvl="1" indent="0">
              <a:buNone/>
            </a:pPr>
            <a:r>
              <a:rPr lang="en-US"/>
              <a:t>{</a:t>
            </a:r>
          </a:p>
          <a:p>
            <a:pPr marL="457200" lvl="1" indent="0">
              <a:buNone/>
            </a:pPr>
            <a:r>
              <a:rPr lang="en-US"/>
              <a:t>  "call_id": "task_001",</a:t>
            </a:r>
          </a:p>
          <a:p>
            <a:pPr marL="457200" lvl="1" indent="0">
              <a:buNone/>
            </a:pPr>
            <a:r>
              <a:rPr lang="en-US"/>
              <a:t>  "success": true,</a:t>
            </a:r>
          </a:p>
          <a:p>
            <a:pPr marL="457200" lvl="1" indent="0">
              <a:buNone/>
            </a:pPr>
            <a:r>
              <a:rPr lang="en-US"/>
              <a:t>  "result": [</a:t>
            </a:r>
          </a:p>
          <a:p>
            <a:pPr marL="457200" lvl="1" indent="0">
              <a:buNone/>
            </a:pPr>
            <a:r>
              <a:rPr lang="en-US"/>
              <a:t>    {"title":"2026上半年新能源销量数据","content":"..."},</a:t>
            </a:r>
          </a:p>
          <a:p>
            <a:pPr marL="457200" lvl="1" indent="0">
              <a:buNone/>
            </a:pPr>
            <a:r>
              <a:rPr lang="en-US"/>
              <a:t>    {"title":"主流车企销量排行","content":"..."}</a:t>
            </a:r>
          </a:p>
          <a:p>
            <a:pPr marL="457200" lvl="1" indent="0">
              <a:buNone/>
            </a:pPr>
            <a:r>
              <a:rPr lang="en-US"/>
              <a:t>  ]</a:t>
            </a:r>
          </a:p>
          <a:p>
            <a:pPr marL="457200" lvl="1" indent="0">
              <a:buNone/>
            </a:pPr>
            <a:r>
              <a:rPr lang="en-US"/>
              <a:t>}</a:t>
            </a:r>
          </a:p>
          <a:p>
            <a:pPr lvl="0"/>
            <a:r>
              <a:rPr lang="en-US"/>
              <a:t>实例</a:t>
            </a:r>
          </a:p>
          <a:p>
            <a:pPr lvl="1"/>
            <a:r>
              <a:rPr lang="en-US"/>
              <a:t>子 Agent（舆情检索 Agent）需要查行业数据，输出上述 FunctionCall 指令，工具模块执行搜索，结果原路返回给子 Agent。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367030"/>
          </a:xfrm>
        </p:spPr>
        <p:txBody>
          <a:bodyPr>
            <a:normAutofit fontScale="90000"/>
          </a:bodyPr>
          <a:lstStyle/>
          <a:p>
            <a:r>
              <a:rPr lang="zh-CN" altLang="en-US" b="0"/>
              <a:t>关于</a:t>
            </a:r>
            <a:r>
              <a:rPr lang="en-US" b="0"/>
              <a:t>Agent</a:t>
            </a:r>
            <a:r>
              <a:rPr lang="zh-CN" altLang="en-US" b="0"/>
              <a:t>的通识知识</a:t>
            </a:r>
            <a:r>
              <a:rPr lang="en-US" altLang="zh-CN" b="0"/>
              <a:t>(General Knowledge)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32790"/>
            <a:ext cx="10515600" cy="6125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Agent ↔ Skills 技能交互:</a:t>
            </a:r>
          </a:p>
          <a:p>
            <a:r>
              <a:rPr lang="en-US"/>
              <a:t>区别</a:t>
            </a:r>
            <a:r>
              <a:rPr lang="zh-CN" altLang="en-US"/>
              <a:t>于</a:t>
            </a:r>
            <a:r>
              <a:rPr lang="en-US"/>
              <a:t> Tools</a:t>
            </a:r>
          </a:p>
          <a:p>
            <a:pPr lvl="1"/>
            <a:r>
              <a:rPr lang="en-US"/>
              <a:t>Skill = 封装好的工具执行流程（多工具串联），属于可复用业务流程</a:t>
            </a:r>
          </a:p>
          <a:p>
            <a:pPr lvl="0"/>
            <a:r>
              <a:rPr lang="en-US"/>
              <a:t>交互接口：Skill 统一调用接口</a:t>
            </a:r>
          </a:p>
          <a:p>
            <a:pPr marL="457200" lvl="1" indent="0">
              <a:buNone/>
            </a:pPr>
            <a:r>
              <a:rPr lang="en-US"/>
              <a:t># 技能调用接口定义</a:t>
            </a:r>
          </a:p>
          <a:p>
            <a:pPr marL="457200" lvl="1" indent="0">
              <a:buNone/>
            </a:pPr>
            <a:r>
              <a:rPr lang="en-US"/>
              <a:t>class SkillInterface:</a:t>
            </a:r>
          </a:p>
          <a:p>
            <a:pPr marL="457200" lvl="1" indent="0">
              <a:buNone/>
            </a:pPr>
            <a:r>
              <a:rPr lang="en-US"/>
              <a:t>    def run_skill(self, skill_id: str, input_params: dict) -&gt; dict:</a:t>
            </a:r>
          </a:p>
          <a:p>
            <a:pPr marL="457200" lvl="1" indent="0">
              <a:buNone/>
            </a:pPr>
            <a:r>
              <a:rPr lang="en-US"/>
              <a:t>        """</a:t>
            </a:r>
          </a:p>
          <a:p>
            <a:pPr marL="457200" lvl="1" indent="0">
              <a:buNone/>
            </a:pPr>
            <a:r>
              <a:rPr lang="en-US"/>
              <a:t>        入参：技能ID、业务输入数据</a:t>
            </a:r>
          </a:p>
          <a:p>
            <a:pPr marL="457200" lvl="1" indent="0">
              <a:buNone/>
            </a:pPr>
            <a:r>
              <a:rPr lang="en-US"/>
              <a:t>        返回：技能完整执行结果</a:t>
            </a:r>
          </a:p>
          <a:p>
            <a:pPr marL="457200" lvl="1" indent="0">
              <a:buNone/>
            </a:pPr>
            <a:r>
              <a:rPr lang="en-US"/>
              <a:t>        """</a:t>
            </a:r>
          </a:p>
          <a:p>
            <a:pPr marL="457200" lvl="1" indent="0">
              <a:buNone/>
            </a:pPr>
            <a:r>
              <a:rPr lang="en-US"/>
              <a:t>        pass</a:t>
            </a:r>
          </a:p>
          <a:p>
            <a:pPr lvl="0"/>
            <a:r>
              <a:rPr lang="en-US"/>
              <a:t>实例Skill：excel_stat_skill 内部串联「读取文件工具→清洗工具→统计计算工具」</a:t>
            </a:r>
          </a:p>
          <a:p>
            <a:pPr lvl="1"/>
            <a:r>
              <a:rPr lang="en-US"/>
              <a:t>数据清洗子 Agent 调用技能接口：</a:t>
            </a:r>
          </a:p>
          <a:p>
            <a:pPr marL="457200" lvl="1" indent="0">
              <a:buNone/>
            </a:pPr>
            <a:r>
              <a:rPr lang="en-US"/>
              <a:t>skill_result = skill_manager.run_skill(</a:t>
            </a:r>
          </a:p>
          <a:p>
            <a:pPr marL="457200" lvl="1" indent="0">
              <a:buNone/>
            </a:pPr>
            <a:r>
              <a:rPr lang="en-US"/>
              <a:t>    skill_id="excel_stat_skill",</a:t>
            </a:r>
          </a:p>
          <a:p>
            <a:pPr marL="457200" lvl="1" indent="0">
              <a:buNone/>
            </a:pPr>
            <a:r>
              <a:rPr lang="en-US"/>
              <a:t>    input_params={"file_path": "./sales.xlsx", "stat_target": "month_sale"}</a:t>
            </a:r>
          </a:p>
          <a:p>
            <a:pPr marL="457200" lvl="1" indent="0">
              <a:buNone/>
            </a:pPr>
            <a:r>
              <a:rPr lang="en-US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367030"/>
          </a:xfrm>
        </p:spPr>
        <p:txBody>
          <a:bodyPr>
            <a:normAutofit fontScale="90000"/>
          </a:bodyPr>
          <a:lstStyle/>
          <a:p>
            <a:r>
              <a:rPr lang="zh-CN" altLang="en-US" b="0"/>
              <a:t>关于</a:t>
            </a:r>
            <a:r>
              <a:rPr lang="en-US" b="0"/>
              <a:t>Agent</a:t>
            </a:r>
            <a:r>
              <a:rPr lang="zh-CN" altLang="en-US" b="0"/>
              <a:t>的通识知识</a:t>
            </a:r>
            <a:r>
              <a:rPr lang="en-US" altLang="zh-CN" b="0"/>
              <a:t>(General Knowledge)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32790"/>
            <a:ext cx="10515600" cy="6125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Agent ↔ Memory 记忆模块交互</a:t>
            </a:r>
          </a:p>
          <a:p>
            <a:r>
              <a:rPr lang="en-US"/>
              <a:t>两类记忆交互接口</a:t>
            </a:r>
          </a:p>
          <a:p>
            <a:pPr lvl="1"/>
            <a:r>
              <a:rPr lang="en-US"/>
              <a:t>短期上下文记忆（对话历史）</a:t>
            </a:r>
          </a:p>
          <a:p>
            <a:pPr lvl="2"/>
            <a:r>
              <a:rPr lang="en-US"/>
              <a:t>接口：get_session_messages(session_id) / append_message(role, content)</a:t>
            </a:r>
          </a:p>
          <a:p>
            <a:pPr lvl="1"/>
            <a:r>
              <a:rPr lang="en-US"/>
              <a:t>长期向量知识库（RAG 检索）</a:t>
            </a:r>
          </a:p>
          <a:p>
            <a:pPr lvl="2"/>
            <a:r>
              <a:rPr lang="en-US"/>
              <a:t>接口：vector_search(query, top_k=3)</a:t>
            </a:r>
          </a:p>
          <a:p>
            <a:r>
              <a:rPr lang="en-US"/>
              <a:t>实例</a:t>
            </a:r>
          </a:p>
          <a:p>
            <a:pPr lvl="1"/>
            <a:r>
              <a:rPr lang="en-US"/>
              <a:t>主 Agent 拆分任务前，调用记忆接口读取历史对话，避免重复提问：</a:t>
            </a:r>
          </a:p>
          <a:p>
            <a:pPr marL="457200" lvl="1" indent="0">
              <a:buNone/>
            </a:pPr>
            <a:r>
              <a:rPr lang="en-US"/>
              <a:t>history = memory.get_session_messages(session_id="chat_123")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367030"/>
          </a:xfrm>
        </p:spPr>
        <p:txBody>
          <a:bodyPr>
            <a:normAutofit fontScale="90000"/>
          </a:bodyPr>
          <a:lstStyle/>
          <a:p>
            <a:r>
              <a:rPr lang="zh-CN" altLang="en-US" b="0"/>
              <a:t>关于</a:t>
            </a:r>
            <a:r>
              <a:rPr lang="en-US" b="0"/>
              <a:t>Agent</a:t>
            </a:r>
            <a:r>
              <a:rPr lang="zh-CN" altLang="en-US" b="0"/>
              <a:t>的通识知识</a:t>
            </a:r>
            <a:r>
              <a:rPr lang="en-US" altLang="zh-CN" b="0"/>
              <a:t>(General Knowledge)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32790"/>
            <a:ext cx="10515600" cy="6125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Agent ↔ Planner 规划器模块交互</a:t>
            </a:r>
          </a:p>
          <a:p>
            <a:r>
              <a:rPr lang="en-US"/>
              <a:t>接口：任务拆分 / 重规划接口</a:t>
            </a:r>
          </a:p>
          <a:p>
            <a:pPr marL="457200" lvl="1" indent="0">
              <a:buNone/>
            </a:pPr>
            <a:r>
              <a:rPr lang="en-US"/>
              <a:t># 规划器输入输出接口</a:t>
            </a:r>
          </a:p>
          <a:p>
            <a:pPr marL="457200" lvl="1" indent="0">
              <a:buNone/>
            </a:pPr>
            <a:r>
              <a:rPr lang="en-US"/>
              <a:t>def plan_task(user_requirement: str, agent_pool: list) -&gt; List[SubTask]:</a:t>
            </a:r>
          </a:p>
          <a:p>
            <a:pPr marL="457200" lvl="1" indent="0">
              <a:buNone/>
            </a:pPr>
            <a:r>
              <a:rPr lang="en-US"/>
              <a:t>    """</a:t>
            </a:r>
          </a:p>
          <a:p>
            <a:pPr marL="457200" lvl="1" indent="0">
              <a:buNone/>
            </a:pPr>
            <a:r>
              <a:rPr lang="en-US"/>
              <a:t>    输入：用户需求、可用子Agent列表</a:t>
            </a:r>
          </a:p>
          <a:p>
            <a:pPr marL="457200" lvl="1" indent="0">
              <a:buNone/>
            </a:pPr>
            <a:r>
              <a:rPr lang="en-US"/>
              <a:t>    输出：拆分后的子任务队列（绑定对应子Agent）</a:t>
            </a:r>
          </a:p>
          <a:p>
            <a:pPr marL="457200" lvl="1" indent="0">
              <a:buNone/>
            </a:pPr>
            <a:r>
              <a:rPr lang="en-US"/>
              <a:t>    """</a:t>
            </a:r>
          </a:p>
          <a:p>
            <a:r>
              <a:rPr lang="en-US"/>
              <a:t>实例</a:t>
            </a:r>
          </a:p>
          <a:p>
            <a:pPr lvl="1"/>
            <a:r>
              <a:rPr lang="en-US"/>
              <a:t>主 Agent 启动时调用规划器，把大需求拆分为可分配给子 Agent 的子任务列表。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367030"/>
          </a:xfrm>
        </p:spPr>
        <p:txBody>
          <a:bodyPr>
            <a:normAutofit fontScale="90000"/>
          </a:bodyPr>
          <a:lstStyle/>
          <a:p>
            <a:r>
              <a:rPr lang="zh-CN" altLang="en-US" b="0"/>
              <a:t>关于</a:t>
            </a:r>
            <a:r>
              <a:rPr lang="en-US" b="0"/>
              <a:t>Agent</a:t>
            </a:r>
            <a:r>
              <a:rPr lang="zh-CN" altLang="en-US" b="0"/>
              <a:t>的通识知识</a:t>
            </a:r>
            <a:r>
              <a:rPr lang="en-US" altLang="zh-CN" b="0"/>
              <a:t>(General Knowledge)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32790"/>
            <a:ext cx="10515600" cy="6125210"/>
          </a:xfrm>
        </p:spPr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sz="2400"/>
              <a:t>Agent ↔ Agent 跨实体交互（核心通信接口）</a:t>
            </a:r>
          </a:p>
          <a:p>
            <a:r>
              <a:rPr lang="en-US"/>
              <a:t>统一通信载体：标准化消息结构体（所有 Agent 互通标准）</a:t>
            </a:r>
          </a:p>
          <a:p>
            <a:pPr marL="457200" lvl="1" indent="0">
              <a:buNone/>
            </a:pPr>
            <a:r>
              <a:rPr lang="en-US"/>
              <a:t># Agent间通用消息接口（所有框架通用）</a:t>
            </a:r>
          </a:p>
          <a:p>
            <a:pPr marL="457200" lvl="1" indent="0">
              <a:buNone/>
            </a:pPr>
            <a:r>
              <a:rPr lang="en-US"/>
              <a:t>@dataclass</a:t>
            </a:r>
          </a:p>
          <a:p>
            <a:pPr marL="457200" lvl="1" indent="0">
              <a:buNone/>
            </a:pPr>
            <a:r>
              <a:rPr lang="en-US"/>
              <a:t>class AgentMessage:</a:t>
            </a:r>
          </a:p>
          <a:p>
            <a:pPr marL="457200" lvl="1" indent="0">
              <a:buNone/>
            </a:pPr>
            <a:r>
              <a:rPr lang="en-US"/>
              <a:t>    sender_id: str       # 发送方Agent ID</a:t>
            </a:r>
          </a:p>
          <a:p>
            <a:pPr marL="457200" lvl="1" indent="0">
              <a:buNone/>
            </a:pPr>
            <a:r>
              <a:rPr lang="en-US"/>
              <a:t>    receiver_id: str     # 接收方Agent ID / broadcast广播</a:t>
            </a:r>
          </a:p>
          <a:p>
            <a:pPr marL="457200" lvl="1" indent="0">
              <a:buNone/>
            </a:pPr>
            <a:r>
              <a:rPr lang="en-US"/>
              <a:t>    task_id: str         # 关联任务ID</a:t>
            </a:r>
          </a:p>
          <a:p>
            <a:pPr marL="457200" lvl="1" indent="0">
              <a:buNone/>
            </a:pPr>
            <a:r>
              <a:rPr lang="en-US"/>
              <a:t>    msg_type: Literal["task_assign", "task_result", "feedback", "error"]</a:t>
            </a:r>
          </a:p>
          <a:p>
            <a:pPr marL="457200" lvl="1" indent="0">
              <a:buNone/>
            </a:pPr>
            <a:r>
              <a:rPr lang="en-US"/>
              <a:t>    content: dict        # 业务数据（任务参数/执行结果）</a:t>
            </a:r>
          </a:p>
          <a:p>
            <a:pPr marL="457200" lvl="1" indent="0">
              <a:buNone/>
            </a:pPr>
            <a:r>
              <a:rPr lang="en-US"/>
              <a:t>    timestamp: str</a:t>
            </a:r>
          </a:p>
          <a:p>
            <a:r>
              <a:rPr lang="en-US"/>
              <a:t>消息示例 1：主 Agent 下发任务给子 Agent</a:t>
            </a:r>
          </a:p>
          <a:p>
            <a:pPr marL="457200" lvl="1" indent="0">
              <a:buNone/>
            </a:pPr>
            <a:r>
              <a:rPr lang="en-US"/>
              <a:t>{</a:t>
            </a:r>
          </a:p>
          <a:p>
            <a:pPr marL="457200" lvl="1" indent="0">
              <a:buNone/>
            </a:pPr>
            <a:r>
              <a:rPr lang="en-US"/>
              <a:t>  "sender_id": "main_orchestrator",</a:t>
            </a:r>
          </a:p>
          <a:p>
            <a:pPr marL="457200" lvl="1" indent="0">
              <a:buNone/>
            </a:pPr>
            <a:r>
              <a:rPr lang="en-US"/>
              <a:t>  "receiver_id": "search_agent_01",</a:t>
            </a:r>
          </a:p>
          <a:p>
            <a:pPr marL="457200" lvl="1" indent="0">
              <a:buNone/>
            </a:pPr>
            <a:r>
              <a:rPr lang="en-US"/>
              <a:t>  "task_id": "task_001",</a:t>
            </a:r>
          </a:p>
          <a:p>
            <a:pPr marL="457200" lvl="1" indent="0">
              <a:buNone/>
            </a:pPr>
            <a:r>
              <a:rPr lang="en-US"/>
              <a:t>  "msg_type": "task_assign",</a:t>
            </a:r>
          </a:p>
          <a:p>
            <a:pPr marL="457200" lvl="1" indent="0">
              <a:buNone/>
            </a:pPr>
            <a:r>
              <a:rPr lang="en-US"/>
              <a:t>  "content": {"query": "2026光伏行业政策"}</a:t>
            </a:r>
          </a:p>
          <a:p>
            <a:pPr marL="457200" lvl="1" indent="0">
              <a:buNone/>
            </a:pPr>
            <a:r>
              <a:rPr lang="en-US"/>
              <a:t>}</a:t>
            </a:r>
          </a:p>
          <a:p>
            <a:r>
              <a:rPr lang="en-US"/>
              <a:t>消息示例 2：子 Agent 返回执行结果给主 Agent</a:t>
            </a:r>
          </a:p>
          <a:p>
            <a:pPr marL="457200" lvl="1" indent="0">
              <a:buNone/>
            </a:pPr>
            <a:r>
              <a:rPr lang="en-US"/>
              <a:t>{</a:t>
            </a:r>
          </a:p>
          <a:p>
            <a:pPr marL="457200" lvl="1" indent="0">
              <a:buNone/>
            </a:pPr>
            <a:r>
              <a:rPr lang="en-US"/>
              <a:t>  "sender_id": "search_agent_01",</a:t>
            </a:r>
          </a:p>
          <a:p>
            <a:pPr marL="457200" lvl="1" indent="0">
              <a:buNone/>
            </a:pPr>
            <a:r>
              <a:rPr lang="en-US"/>
              <a:t>  "receiver_id": "main_orchestrator",</a:t>
            </a:r>
          </a:p>
          <a:p>
            <a:pPr marL="457200" lvl="1" indent="0">
              <a:buNone/>
            </a:pPr>
            <a:r>
              <a:rPr lang="en-US"/>
              <a:t>  "task_id": "task_001",</a:t>
            </a:r>
          </a:p>
          <a:p>
            <a:pPr marL="457200" lvl="1" indent="0">
              <a:buNone/>
            </a:pPr>
            <a:r>
              <a:rPr lang="en-US"/>
              <a:t>  "msg_type": "task_result",</a:t>
            </a:r>
          </a:p>
          <a:p>
            <a:pPr marL="457200" lvl="1" indent="0">
              <a:buNone/>
            </a:pPr>
            <a:r>
              <a:rPr lang="en-US"/>
              <a:t>  "content": {"data": ["政策1...","政策2..."]}</a:t>
            </a:r>
          </a:p>
          <a:p>
            <a:pPr marL="457200" lvl="1" indent="0">
              <a:buNone/>
            </a:pPr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367030"/>
          </a:xfrm>
        </p:spPr>
        <p:txBody>
          <a:bodyPr>
            <a:normAutofit fontScale="90000"/>
          </a:bodyPr>
          <a:lstStyle/>
          <a:p>
            <a:r>
              <a:rPr lang="zh-CN" altLang="en-US" b="0"/>
              <a:t>关于</a:t>
            </a:r>
            <a:r>
              <a:rPr lang="en-US" b="0"/>
              <a:t>Agent</a:t>
            </a:r>
            <a:r>
              <a:rPr lang="zh-CN" altLang="en-US" b="0"/>
              <a:t>的通识知识</a:t>
            </a:r>
            <a:r>
              <a:rPr lang="en-US" altLang="zh-CN" b="0"/>
              <a:t>(General Knowledge)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32790"/>
            <a:ext cx="10515600" cy="6125210"/>
          </a:xfrm>
        </p:spPr>
        <p:txBody>
          <a:bodyPr>
            <a:normAutofit fontScale="60000"/>
          </a:bodyPr>
          <a:lstStyle/>
          <a:p>
            <a:pPr marL="0" indent="0">
              <a:buNone/>
            </a:pPr>
            <a:r>
              <a:rPr lang="en-US" sz="2400"/>
              <a:t>Agent ↔ Agent 跨实体交互（核心通信接口）</a:t>
            </a:r>
          </a:p>
          <a:p>
            <a:r>
              <a:rPr lang="en-US"/>
              <a:t>统一通信载体：标准化消息结构体（所有 Agent 互通标准）</a:t>
            </a:r>
          </a:p>
          <a:p>
            <a:pPr marL="457200" lvl="1" indent="0">
              <a:buNone/>
            </a:pPr>
            <a:r>
              <a:rPr lang="en-US"/>
              <a:t># Agent间通用消息接口（所有框架通用）</a:t>
            </a:r>
          </a:p>
          <a:p>
            <a:pPr marL="457200" lvl="1" indent="0">
              <a:buNone/>
            </a:pPr>
            <a:r>
              <a:rPr lang="en-US"/>
              <a:t>@dataclass</a:t>
            </a:r>
          </a:p>
          <a:p>
            <a:pPr marL="457200" lvl="1" indent="0">
              <a:buNone/>
            </a:pPr>
            <a:r>
              <a:rPr lang="en-US"/>
              <a:t>class AgentMessage:</a:t>
            </a:r>
          </a:p>
          <a:p>
            <a:pPr marL="457200" lvl="1" indent="0">
              <a:buNone/>
            </a:pPr>
            <a:r>
              <a:rPr lang="en-US"/>
              <a:t>    sender_id: str       # 发送方Agent ID</a:t>
            </a:r>
          </a:p>
          <a:p>
            <a:pPr marL="457200" lvl="1" indent="0">
              <a:buNone/>
            </a:pPr>
            <a:r>
              <a:rPr lang="en-US"/>
              <a:t>    receiver_id: str     # 接收方Agent ID / broadcast广播</a:t>
            </a:r>
          </a:p>
          <a:p>
            <a:pPr marL="457200" lvl="1" indent="0">
              <a:buNone/>
            </a:pPr>
            <a:r>
              <a:rPr lang="en-US"/>
              <a:t>    task_id: str         # 关联任务ID</a:t>
            </a:r>
          </a:p>
          <a:p>
            <a:pPr marL="457200" lvl="1" indent="0">
              <a:buNone/>
            </a:pPr>
            <a:r>
              <a:rPr lang="en-US"/>
              <a:t>    msg_type: Literal["task_assign", "task_result", "feedback", "error"]</a:t>
            </a:r>
          </a:p>
          <a:p>
            <a:pPr marL="457200" lvl="1" indent="0">
              <a:buNone/>
            </a:pPr>
            <a:r>
              <a:rPr lang="en-US"/>
              <a:t>    content: dict        # 业务数据（任务参数/执行结果）</a:t>
            </a:r>
          </a:p>
          <a:p>
            <a:pPr marL="457200" lvl="1" indent="0">
              <a:buNone/>
            </a:pPr>
            <a:r>
              <a:rPr lang="en-US"/>
              <a:t>    timestamp: str</a:t>
            </a:r>
          </a:p>
          <a:p>
            <a:r>
              <a:rPr lang="en-US"/>
              <a:t>消息示例 1：主 Agent 下发任务给子 Agent</a:t>
            </a:r>
          </a:p>
          <a:p>
            <a:pPr marL="457200" lvl="1" indent="0">
              <a:buNone/>
            </a:pPr>
            <a:r>
              <a:rPr lang="en-US"/>
              <a:t>{</a:t>
            </a:r>
          </a:p>
          <a:p>
            <a:pPr marL="457200" lvl="1" indent="0">
              <a:buNone/>
            </a:pPr>
            <a:r>
              <a:rPr lang="en-US"/>
              <a:t>  "sender_id": "main_orchestrator",</a:t>
            </a:r>
          </a:p>
          <a:p>
            <a:pPr marL="457200" lvl="1" indent="0">
              <a:buNone/>
            </a:pPr>
            <a:r>
              <a:rPr lang="en-US"/>
              <a:t>  "receiver_id": "search_agent_01",</a:t>
            </a:r>
          </a:p>
          <a:p>
            <a:pPr marL="457200" lvl="1" indent="0">
              <a:buNone/>
            </a:pPr>
            <a:r>
              <a:rPr lang="en-US"/>
              <a:t>  "task_id": "task_001",</a:t>
            </a:r>
          </a:p>
          <a:p>
            <a:pPr marL="457200" lvl="1" indent="0">
              <a:buNone/>
            </a:pPr>
            <a:r>
              <a:rPr lang="en-US"/>
              <a:t>  "msg_type": "task_assign",</a:t>
            </a:r>
          </a:p>
          <a:p>
            <a:pPr marL="457200" lvl="1" indent="0">
              <a:buNone/>
            </a:pPr>
            <a:r>
              <a:rPr lang="en-US"/>
              <a:t>  "content": {"query": "2026光伏行业政策"}</a:t>
            </a:r>
          </a:p>
          <a:p>
            <a:pPr marL="457200" lvl="1" indent="0">
              <a:buNone/>
            </a:pPr>
            <a:r>
              <a:rPr lang="en-US"/>
              <a:t>}</a:t>
            </a:r>
          </a:p>
          <a:p>
            <a:r>
              <a:rPr lang="en-US"/>
              <a:t>消息示例 2：子 Agent 返回执行结果给主 Agent</a:t>
            </a:r>
          </a:p>
          <a:p>
            <a:pPr marL="457200" lvl="1" indent="0">
              <a:buNone/>
            </a:pPr>
            <a:r>
              <a:rPr lang="en-US"/>
              <a:t>{</a:t>
            </a:r>
          </a:p>
          <a:p>
            <a:pPr marL="457200" lvl="1" indent="0">
              <a:buNone/>
            </a:pPr>
            <a:r>
              <a:rPr lang="en-US"/>
              <a:t>  "sender_id": "search_agent_01",</a:t>
            </a:r>
          </a:p>
          <a:p>
            <a:pPr marL="457200" lvl="1" indent="0">
              <a:buNone/>
            </a:pPr>
            <a:r>
              <a:rPr lang="en-US"/>
              <a:t>  "receiver_id": "main_orchestrator",</a:t>
            </a:r>
          </a:p>
          <a:p>
            <a:pPr marL="457200" lvl="1" indent="0">
              <a:buNone/>
            </a:pPr>
            <a:r>
              <a:rPr lang="en-US"/>
              <a:t>  "task_id": "task_001",</a:t>
            </a:r>
          </a:p>
          <a:p>
            <a:pPr marL="457200" lvl="1" indent="0">
              <a:buNone/>
            </a:pPr>
            <a:r>
              <a:rPr lang="en-US"/>
              <a:t>  "msg_type": "task_result",</a:t>
            </a:r>
          </a:p>
          <a:p>
            <a:pPr marL="457200" lvl="1" indent="0">
              <a:buNone/>
            </a:pPr>
            <a:r>
              <a:rPr lang="en-US"/>
              <a:t>  "content": {"data": ["政策1...","政策2..."]}</a:t>
            </a:r>
          </a:p>
          <a:p>
            <a:pPr marL="457200" lvl="1" indent="0">
              <a:buNone/>
            </a:pPr>
            <a:r>
              <a:rPr lang="en-US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00" y="2229485"/>
            <a:ext cx="10515600" cy="1325563"/>
          </a:xfrm>
        </p:spPr>
        <p:txBody>
          <a:bodyPr/>
          <a:lstStyle/>
          <a:p>
            <a:pPr algn="ctr"/>
            <a:r>
              <a:rPr lang="en-US" b="0"/>
              <a:t>多 Agent 协调实现手段（5 种主流方案，附代码 / 框架实例）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367030"/>
          </a:xfrm>
        </p:spPr>
        <p:txBody>
          <a:bodyPr>
            <a:normAutofit fontScale="90000"/>
          </a:bodyPr>
          <a:lstStyle/>
          <a:p>
            <a:r>
              <a:rPr b="0"/>
              <a:t>手段 1：集中式消息总线调度（最常用，Hermes/CrewAI 底层方案）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32790"/>
            <a:ext cx="10515600" cy="6125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原理</a:t>
            </a:r>
          </a:p>
          <a:p>
            <a:r>
              <a:rPr lang="en-US" sz="2400"/>
              <a:t>全局唯一消息总线（Message Bus）作为中间媒介，所有 Agent 不直接互相调用，全部收发消息到总线，由总线路由分发。</a:t>
            </a:r>
          </a:p>
          <a:p>
            <a:pPr marL="0" indent="0">
              <a:buNone/>
            </a:pPr>
            <a:r>
              <a:rPr lang="en-US" sz="2400"/>
              <a:t>协调流程</a:t>
            </a:r>
          </a:p>
          <a:p>
            <a:pPr marL="457200" indent="-457200">
              <a:buAutoNum type="arabicPeriod"/>
            </a:pPr>
            <a:r>
              <a:rPr lang="en-US" sz="2400"/>
              <a:t>主 Agent 发送任务消息到总线</a:t>
            </a:r>
          </a:p>
          <a:p>
            <a:pPr marL="457200" indent="-457200">
              <a:buAutoNum type="arabicPeriod"/>
            </a:pPr>
            <a:r>
              <a:rPr lang="en-US" sz="2400"/>
              <a:t>总线根据 receiver_id 转发给对应子 Agent</a:t>
            </a:r>
          </a:p>
          <a:p>
            <a:pPr marL="457200" indent="-457200">
              <a:buAutoNum type="arabicPeriod"/>
            </a:pPr>
            <a:r>
              <a:rPr lang="en-US" sz="2400"/>
              <a:t>子 Agent 执行完成后，结果消息推送总线</a:t>
            </a:r>
          </a:p>
          <a:p>
            <a:pPr marL="457200" indent="-457200">
              <a:buAutoNum type="arabicPeriod"/>
            </a:pPr>
            <a:r>
              <a:rPr lang="en-US" sz="2400"/>
              <a:t>总线回传给主 Agent 聚合</a:t>
            </a:r>
          </a:p>
          <a:p>
            <a:pPr marL="0" indent="0">
              <a:buNone/>
            </a:pPr>
            <a:r>
              <a:rPr lang="en-US" sz="2400"/>
              <a:t>代码极简实例</a:t>
            </a:r>
          </a:p>
          <a:p>
            <a:pPr marL="0" indent="0">
              <a:buNone/>
            </a:pPr>
            <a:r>
              <a:rPr lang="en-US" sz="2400"/>
              <a:t>适用场景：中小型 Agent 集群、前端 Hermes 可视化多 Agent 系统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367030"/>
          </a:xfrm>
        </p:spPr>
        <p:txBody>
          <a:bodyPr>
            <a:normAutofit fontScale="90000"/>
          </a:bodyPr>
          <a:lstStyle/>
          <a:p>
            <a:r>
              <a:rPr b="0"/>
              <a:t>手段 2：状态图调度（LangGraph 标准协调方案）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32790"/>
            <a:ext cx="10515600" cy="61252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原理</a:t>
            </a:r>
          </a:p>
          <a:p>
            <a:r>
              <a:rPr lang="en-US" sz="2400"/>
              <a:t>用图节点代表 Agent，边代表任务流转条件，全局 State 存储所有 Agent 共享数据，依靠状态流转实现协调。</a:t>
            </a:r>
          </a:p>
          <a:p>
            <a:pPr marL="0" indent="0">
              <a:buNone/>
            </a:pPr>
            <a:r>
              <a:rPr lang="en-US" sz="2400"/>
              <a:t>实例：调研多 Agent 流转图</a:t>
            </a:r>
          </a:p>
          <a:p>
            <a:r>
              <a:rPr lang="en-US" sz="2400"/>
              <a:t>State 全局存储：用户需求、各子 Agent 输出结果、完成标记</a:t>
            </a:r>
          </a:p>
          <a:p>
            <a:r>
              <a:rPr lang="en-US" sz="2400"/>
              <a:t>节点：</a:t>
            </a:r>
          </a:p>
          <a:p>
            <a:pPr marL="914400" lvl="1" indent="-457200">
              <a:buAutoNum type="arabicPeriod"/>
            </a:pPr>
            <a:r>
              <a:rPr lang="en-US" sz="2160"/>
              <a:t>main_orchestrator：拆分任务写入 state</a:t>
            </a:r>
          </a:p>
          <a:p>
            <a:pPr marL="914400" lvl="1" indent="-457200">
              <a:buAutoNum type="arabicPeriod"/>
            </a:pPr>
            <a:r>
              <a:rPr lang="en-US" sz="2160"/>
              <a:t>parallel_search：并行执行多个检索子 Agent</a:t>
            </a:r>
          </a:p>
          <a:p>
            <a:pPr marL="914400" lvl="1" indent="-457200">
              <a:buAutoNum type="arabicPeriod"/>
            </a:pPr>
            <a:r>
              <a:rPr lang="en-US" sz="2160"/>
              <a:t>aggregate：主 Agent 聚合所有子 Agent 输出</a:t>
            </a:r>
          </a:p>
          <a:p>
            <a:pPr marL="914400" lvl="1" indent="-457200">
              <a:buAutoNum type="arabicPeriod"/>
            </a:pPr>
            <a:r>
              <a:rPr lang="en-US" sz="2160"/>
              <a:t>review：评审 Agent 校验结果</a:t>
            </a:r>
          </a:p>
          <a:p>
            <a:pPr marL="914400" lvl="2" indent="0">
              <a:buNone/>
            </a:pPr>
            <a:r>
              <a:rPr lang="en-US" sz="1920"/>
              <a:t>条件分支：评审不通过 → 回到检索节点重跑；评审通过 → 输出最终答案</a:t>
            </a:r>
          </a:p>
          <a:p>
            <a:pPr marL="0" indent="0">
              <a:buNone/>
            </a:pPr>
            <a:r>
              <a:rPr lang="en-US" sz="2400"/>
              <a:t>代码示意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367030"/>
          </a:xfrm>
        </p:spPr>
        <p:txBody>
          <a:bodyPr>
            <a:normAutofit fontScale="90000"/>
          </a:bodyPr>
          <a:lstStyle/>
          <a:p>
            <a:r>
              <a:rPr b="0"/>
              <a:t>手段 3：RPC 函数调用（强耦合直连协调，适合固定 Agent 集群）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32790"/>
            <a:ext cx="10515600" cy="6125210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2400"/>
              <a:t>原理</a:t>
            </a:r>
          </a:p>
          <a:p>
            <a:r>
              <a:rPr lang="en-US" sz="2400"/>
              <a:t>Agent 之间通过 HTTP/gRPC 接口直接互相调用，无需中间总线，一对一通信</a:t>
            </a:r>
          </a:p>
          <a:p>
            <a:pPr marL="0" indent="0">
              <a:buNone/>
            </a:pPr>
            <a:r>
              <a:rPr lang="en-US" sz="2400"/>
              <a:t>实例：FastAPI 实现 Agent RPC 调用</a:t>
            </a:r>
          </a:p>
          <a:p>
            <a:r>
              <a:rPr lang="en-US" sz="2400"/>
              <a:t>子 Agent 检索服务暴露接口 /agent/search</a:t>
            </a:r>
          </a:p>
          <a:p>
            <a:r>
              <a:rPr lang="en-US" sz="2400"/>
              <a:t>主 Agent 直接发 HTTP 请求调用子 Agent：</a:t>
            </a:r>
          </a:p>
          <a:p>
            <a:pPr marL="457200" lvl="1" indent="0">
              <a:buNone/>
            </a:pPr>
            <a:r>
              <a:rPr lang="en-US" sz="2160"/>
              <a:t>import requests</a:t>
            </a:r>
          </a:p>
          <a:p>
            <a:pPr marL="457200" lvl="1" indent="0">
              <a:buNone/>
            </a:pPr>
            <a:endParaRPr lang="en-US" sz="2160"/>
          </a:p>
          <a:p>
            <a:pPr marL="457200" lvl="1" indent="0">
              <a:buNone/>
            </a:pPr>
            <a:r>
              <a:rPr lang="en-US" sz="2160"/>
              <a:t>def dispatch_search_task(query: str):</a:t>
            </a:r>
          </a:p>
          <a:p>
            <a:pPr marL="457200" lvl="1" indent="0">
              <a:buNone/>
            </a:pPr>
            <a:r>
              <a:rPr lang="en-US" sz="2160"/>
              <a:t>    resp = requests.post(</a:t>
            </a:r>
          </a:p>
          <a:p>
            <a:pPr marL="457200" lvl="1" indent="0">
              <a:buNone/>
            </a:pPr>
            <a:r>
              <a:rPr lang="en-US" sz="2160"/>
              <a:t>        "http://127.0.0.1:8001/agent/search",</a:t>
            </a:r>
          </a:p>
          <a:p>
            <a:pPr marL="457200" lvl="1" indent="0">
              <a:buNone/>
            </a:pPr>
            <a:r>
              <a:rPr lang="en-US" sz="2160"/>
              <a:t>        json={"query": query}</a:t>
            </a:r>
          </a:p>
          <a:p>
            <a:pPr marL="457200" lvl="1" indent="0">
              <a:buNone/>
            </a:pPr>
            <a:r>
              <a:rPr lang="en-US" sz="2160"/>
              <a:t>    )</a:t>
            </a:r>
          </a:p>
          <a:p>
            <a:pPr marL="457200" lvl="1" indent="0">
              <a:buNone/>
            </a:pPr>
            <a:r>
              <a:rPr lang="en-US" sz="2160"/>
              <a:t>    return resp.json()["result"]</a:t>
            </a:r>
          </a:p>
          <a:p>
            <a:pPr marL="0" indent="0">
              <a:buNone/>
            </a:pPr>
            <a:r>
              <a:rPr lang="en-US" sz="2400"/>
              <a:t>优缺点：开发简单、实时性高；新增 / 删除 Agent 需要修改代码，扩展性差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1307465"/>
          </a:xfrm>
        </p:spPr>
        <p:txBody>
          <a:bodyPr>
            <a:normAutofit/>
          </a:bodyPr>
          <a:lstStyle/>
          <a:p>
            <a:r>
              <a:rPr b="0"/>
              <a:t>手段 4：事件驱动队列</a:t>
            </a:r>
            <a:r>
              <a:rPr lang="en-US" b="0"/>
              <a:t>(</a:t>
            </a:r>
            <a:r>
              <a:rPr b="0"/>
              <a:t>大规模分布式 Agent</a:t>
            </a:r>
            <a:r>
              <a:rPr lang="zh-CN" b="0"/>
              <a:t>，即</a:t>
            </a:r>
            <a:r>
              <a:rPr lang="en-US" altLang="zh-CN" b="0"/>
              <a:t>Agent</a:t>
            </a:r>
            <a:r>
              <a:rPr lang="zh-CN" altLang="en-US" b="0"/>
              <a:t>可能部署在不同服务器节点</a:t>
            </a:r>
            <a:r>
              <a:rPr lang="en-US" altLang="zh-CN" b="0"/>
              <a:t>Node</a:t>
            </a:r>
            <a:r>
              <a:rPr lang="zh-CN" altLang="en-US" b="0"/>
              <a:t>上</a:t>
            </a:r>
            <a:r>
              <a:rPr b="0"/>
              <a:t>，生产级</a:t>
            </a:r>
            <a:r>
              <a:rPr lang="en-US" b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631315"/>
            <a:ext cx="10515600" cy="522668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sz="2400"/>
              <a:t>原理</a:t>
            </a:r>
          </a:p>
          <a:p>
            <a:r>
              <a:rPr lang="en-US" sz="2400"/>
              <a:t>使用 RabbitMQ/Kafka 作为全局消息队列，不同 Agent 监听独立 Topic，事件触发任务执行</a:t>
            </a:r>
          </a:p>
          <a:p>
            <a:pPr marL="0" indent="0">
              <a:buNone/>
            </a:pPr>
            <a:r>
              <a:rPr lang="en-US" sz="2400"/>
              <a:t>实例分布式多 Agent：</a:t>
            </a:r>
          </a:p>
          <a:p>
            <a:r>
              <a:rPr lang="en-US" sz="2400"/>
              <a:t>Topic task_dispatch：主 Agent 下发任务事件</a:t>
            </a:r>
          </a:p>
          <a:p>
            <a:r>
              <a:rPr lang="en-US" sz="2400"/>
              <a:t>Topic search_task：检索子 Agent 监听该队列，消费任务</a:t>
            </a:r>
          </a:p>
          <a:p>
            <a:r>
              <a:rPr lang="en-US" sz="2400"/>
              <a:t>Topic task_result：子 Agent 推送结果事件，主 Agent 消费聚合</a:t>
            </a:r>
          </a:p>
          <a:p>
            <a:pPr marL="0" indent="0">
              <a:buNone/>
            </a:pPr>
            <a:r>
              <a:rPr lang="en-US" sz="2400"/>
              <a:t>适用：云端大规模 Agent 集群、多机器分布式部署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367030"/>
          </a:xfrm>
        </p:spPr>
        <p:txBody>
          <a:bodyPr>
            <a:normAutofit fontScale="90000"/>
          </a:bodyPr>
          <a:lstStyle/>
          <a:p>
            <a:r>
              <a:rPr b="0"/>
              <a:t>手段 5：委派递归协调（AutoGen Agent 群聊 / 委派模式）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32790"/>
            <a:ext cx="10515600" cy="6125210"/>
          </a:xfrm>
        </p:spPr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lang="en-US" sz="2400"/>
              <a:t>原理</a:t>
            </a:r>
          </a:p>
          <a:p>
            <a:r>
              <a:rPr lang="en-US" sz="2400"/>
              <a:t>Agent 之间具备自主对话协商能力，无需中心主控制器，子 Agent 可互相委派任务、自主沟通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实例 AutoGen 多 Agent 对话协调</a:t>
            </a:r>
          </a:p>
          <a:p>
            <a:pPr marL="0" indent="0">
              <a:buNone/>
            </a:pPr>
            <a:r>
              <a:rPr lang="en-US" sz="2400"/>
              <a:t>from autogen import Agent, GroupChat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# 三个自主Agent</a:t>
            </a:r>
          </a:p>
          <a:p>
            <a:pPr marL="0" indent="0">
              <a:buNone/>
            </a:pPr>
            <a:r>
              <a:rPr lang="en-US" sz="2400"/>
              <a:t>user_proxy = Agent("user")</a:t>
            </a:r>
          </a:p>
          <a:p>
            <a:pPr marL="0" indent="0">
              <a:buNone/>
            </a:pPr>
            <a:r>
              <a:rPr lang="en-US" sz="2400"/>
              <a:t>writer_agent = Agent("writer")</a:t>
            </a:r>
          </a:p>
          <a:p>
            <a:pPr marL="0" indent="0">
              <a:buNone/>
            </a:pPr>
            <a:r>
              <a:rPr lang="en-US" sz="2400"/>
              <a:t>coder_agent = Agent("coder")</a:t>
            </a:r>
          </a:p>
          <a:p>
            <a:pPr marL="0" indent="0">
              <a:buNone/>
            </a:pPr>
            <a:r>
              <a:rPr lang="en-US" sz="2400"/>
              <a:t># 群聊自动协商任务</a:t>
            </a:r>
          </a:p>
          <a:p>
            <a:pPr marL="0" indent="0">
              <a:buNone/>
            </a:pPr>
            <a:r>
              <a:rPr lang="en-US" sz="2400"/>
              <a:t>groupchat = GroupChat(agents=[user_proxy, writer_agent, coder_agent])</a:t>
            </a:r>
          </a:p>
          <a:p>
            <a:pPr marL="0" indent="0">
              <a:buNone/>
            </a:pPr>
            <a:r>
              <a:rPr lang="en-US" sz="2400"/>
              <a:t>manager = GroupChatManager(groupchat)</a:t>
            </a:r>
          </a:p>
          <a:p>
            <a:pPr marL="0" indent="0">
              <a:buNone/>
            </a:pPr>
            <a:r>
              <a:rPr lang="en-US" sz="2400"/>
              <a:t># Agent自主对话、互相分配子任务，自动协调分工</a:t>
            </a:r>
          </a:p>
          <a:p>
            <a:pPr marL="0" indent="0">
              <a:buNone/>
            </a:pPr>
            <a:r>
              <a:rPr lang="en-US" sz="2400"/>
              <a:t>用户提出需求后，coder 和 writer 自主沟通拆分工作，无需人工定义流转流程。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916940"/>
          </a:xfrm>
        </p:spPr>
        <p:txBody>
          <a:bodyPr/>
          <a:lstStyle/>
          <a:p>
            <a:r>
              <a:rPr lang="en-US" b="0"/>
              <a:t>完整落地示例整合（Hermes 风格多 Agent 系统串联全链路）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263650"/>
            <a:ext cx="10515600" cy="5594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系统构成</a:t>
            </a:r>
          </a:p>
          <a:p>
            <a:pPr marL="457200" indent="-457200">
              <a:buAutoNum type="arabicPeriod"/>
            </a:pPr>
            <a:r>
              <a:rPr lang="en-US"/>
              <a:t>主 Agent（Orchestrator）</a:t>
            </a:r>
          </a:p>
          <a:p>
            <a:pPr marL="457200" indent="-457200">
              <a:buAutoNum type="arabicPeriod"/>
            </a:pPr>
            <a:r>
              <a:rPr lang="en-US"/>
              <a:t>子 Agent：搜索 Agent、数据分析 Agent、文案 Agent、评审 Agent</a:t>
            </a:r>
          </a:p>
          <a:p>
            <a:pPr marL="0" indent="0">
              <a:buNone/>
            </a:pPr>
            <a:r>
              <a:rPr lang="en-US"/>
              <a:t>模块交互链路</a:t>
            </a:r>
          </a:p>
          <a:p>
            <a:pPr marL="457200" indent="-457200">
              <a:buAutoNum type="arabicPeriod"/>
            </a:pPr>
            <a:r>
              <a:rPr lang="en-US"/>
              <a:t>用户输入 → 主 Agent 读取 Memory 历史 → Planner 拆分任务</a:t>
            </a:r>
          </a:p>
          <a:p>
            <a:pPr marL="457200" indent="-457200">
              <a:buAutoNum type="arabicPeriod"/>
            </a:pPr>
            <a:r>
              <a:rPr lang="en-US"/>
              <a:t>主 Agent 通过 MessageBus 下发任务消息给多个子 Agent（并行执行）</a:t>
            </a:r>
          </a:p>
          <a:p>
            <a:pPr marL="457200" indent="-457200">
              <a:buAutoNum type="arabicPeriod"/>
            </a:pPr>
            <a:r>
              <a:rPr lang="en-US"/>
              <a:t>搜索 Agent 调用web_search Tool，使用 Skill「批量资讯抓取」</a:t>
            </a:r>
          </a:p>
          <a:p>
            <a:pPr marL="457200" indent="-457200">
              <a:buAutoNum type="arabicPeriod"/>
            </a:pPr>
            <a:r>
              <a:rPr lang="en-US"/>
              <a:t>数据分析 Agent 调用excel_read Tool、统计 Skill</a:t>
            </a:r>
          </a:p>
          <a:p>
            <a:pPr marL="457200" indent="-457200">
              <a:buAutoNum type="arabicPeriod"/>
            </a:pPr>
            <a:r>
              <a:rPr lang="en-US"/>
              <a:t>所有子 Agent 完成后，通过消息总线返回结果给主 Agent</a:t>
            </a:r>
          </a:p>
          <a:p>
            <a:pPr marL="457200" indent="-457200">
              <a:buAutoNum type="arabicPeriod"/>
            </a:pPr>
            <a:r>
              <a:rPr lang="en-US"/>
              <a:t>主 Agent 发送聚合数据给评审 Agent 校验</a:t>
            </a:r>
          </a:p>
          <a:p>
            <a:pPr marL="457200" indent="-457200">
              <a:buAutoNum type="arabicPeriod"/>
            </a:pPr>
            <a:r>
              <a:rPr lang="en-US"/>
              <a:t>评审不合格 → 消息回传给对应子 Agent 重执行；合格后主 Agent 整合输出</a:t>
            </a:r>
          </a:p>
          <a:p>
            <a:pPr marL="0" indent="0">
              <a:buNone/>
            </a:pPr>
            <a:r>
              <a:rPr lang="en-US"/>
              <a:t>协调方式</a:t>
            </a:r>
          </a:p>
          <a:p>
            <a:r>
              <a:rPr lang="en-US"/>
              <a:t>底层采用消息总线集中调度 + LangGraph 状态流转双方案结合，兼顾可视化界面控制与流程自动化。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00" y="1924685"/>
            <a:ext cx="10515600" cy="2378075"/>
          </a:xfrm>
        </p:spPr>
        <p:txBody>
          <a:bodyPr/>
          <a:lstStyle/>
          <a:p>
            <a:r>
              <a:rPr lang="zh-CN" altLang="en-US" b="0"/>
              <a:t>案例实现</a:t>
            </a:r>
            <a:r>
              <a:rPr lang="en-US" altLang="zh-CN" b="0"/>
              <a:t>: A 股 3 日行情预测明日大涨 (&gt;1.5%) 模型 + Hermes 子 Agent 集成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sym typeface="+mn-ea"/>
              </a:rPr>
              <a:t>整体需求拆解</a:t>
            </a:r>
            <a:endParaRPr lang="zh-CN" altLang="en-US" b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数据区间：2020-01-01 ~ 2026-07-03 沪深 A 股日线行情</a:t>
            </a:r>
          </a:p>
          <a:p>
            <a:r>
              <a:rPr lang="en-US"/>
              <a:t>输入特征：连续 3 根 K 线 [t-2, t-1, t] 当日行情</a:t>
            </a:r>
          </a:p>
          <a:p>
            <a:r>
              <a:rPr lang="en-US"/>
              <a:t>预测目标：t+1 次日涨跌幅 &gt; 1.5%（二分类：大涨 / 不大涨）</a:t>
            </a:r>
          </a:p>
          <a:p>
            <a:r>
              <a:rPr lang="en-US"/>
              <a:t>能力：历史回测、预测推理、指标评估</a:t>
            </a:r>
          </a:p>
          <a:p>
            <a:r>
              <a:rPr lang="en-US"/>
              <a:t>工程落地：封装为 Hermes 专用交易预测子 Agent，接入主 Agent 工具调度链路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07645"/>
            <a:ext cx="10515600" cy="375920"/>
          </a:xfrm>
        </p:spPr>
        <p:txBody>
          <a:bodyPr>
            <a:normAutofit fontScale="90000"/>
          </a:bodyPr>
          <a:lstStyle/>
          <a:p>
            <a:r>
              <a:rPr lang="zh-CN" altLang="en-US" b="0"/>
              <a:t>实采数据研究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858520"/>
            <a:ext cx="10515600" cy="5932170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/>
              <a:t>原始字段约定（标准 A 股日线）单条日线原始字段：</a:t>
            </a:r>
          </a:p>
          <a:p>
            <a:r>
              <a:rPr lang="en-US"/>
              <a:t>date, code, open, high, low, close, volume, amount, pre_close</a:t>
            </a:r>
          </a:p>
          <a:p>
            <a:pPr marL="0" indent="0">
              <a:buNone/>
            </a:pPr>
            <a:r>
              <a:rPr lang="en-US"/>
              <a:t>衍生基础指标：</a:t>
            </a:r>
          </a:p>
          <a:p>
            <a:r>
              <a:rPr lang="en-US"/>
              <a:t>pct_change = (close - pre_close) / pre_close * 100  # 当日涨跌幅</a:t>
            </a:r>
          </a:p>
          <a:p>
            <a:r>
              <a:rPr lang="en-US"/>
              <a:t>next_pct = 下一日pct_change                        # 目标标签</a:t>
            </a:r>
          </a:p>
          <a:p>
            <a:pPr marL="0" indent="0">
              <a:buNone/>
            </a:pPr>
            <a:r>
              <a:rPr lang="en-US"/>
              <a:t>目标标签定义（监督学习 Y）对每只股票每一日 t：</a:t>
            </a:r>
          </a:p>
          <a:p>
            <a:r>
              <a:rPr lang="en-US"/>
              <a:t>y_t =</a:t>
            </a:r>
          </a:p>
          <a:p>
            <a:pPr marL="457200" lvl="1" indent="0">
              <a:buNone/>
            </a:pPr>
            <a:r>
              <a:rPr lang="en-US"/>
              <a:t>\begin{cases}</a:t>
            </a:r>
          </a:p>
          <a:p>
            <a:pPr marL="457200" lvl="1" indent="0">
              <a:buNone/>
            </a:pPr>
            <a:r>
              <a:rPr lang="en-US"/>
              <a:t>1 &amp; \text{next_pct}(t+1) &gt; 1.5 \\</a:t>
            </a:r>
          </a:p>
          <a:p>
            <a:pPr marL="457200" lvl="1" indent="0">
              <a:buNone/>
            </a:pPr>
            <a:r>
              <a:rPr lang="en-US"/>
              <a:t>0 &amp; \text{其他}</a:t>
            </a:r>
          </a:p>
          <a:p>
            <a:pPr marL="457200" lvl="1" indent="0">
              <a:buNone/>
            </a:pPr>
            <a:r>
              <a:rPr lang="en-US"/>
              <a:t>\end{cases}</a:t>
            </a:r>
          </a:p>
          <a:p>
            <a:pPr marL="457200" lvl="1" indent="0">
              <a:buNone/>
            </a:pPr>
            <a:r>
              <a:rPr lang="en-US"/>
              <a:t>y=1 代表明日大涨样本，为模型正样本。</a:t>
            </a:r>
          </a:p>
          <a:p>
            <a:pPr marL="0" indent="0">
              <a:buNone/>
            </a:pPr>
            <a:r>
              <a:rPr lang="en-US"/>
              <a:t>日窗口特征构造（模型输入 X）滑动窗口长度 = 3，对 t 时刻，输入窗口 [t-2, t-1, t]</a:t>
            </a:r>
          </a:p>
          <a:p>
            <a:pPr marL="0" indent="0">
              <a:buNone/>
            </a:pPr>
            <a:r>
              <a:rPr lang="zh-CN" altLang="en-US"/>
              <a:t>每个交易数据</a:t>
            </a:r>
            <a:r>
              <a:rPr lang="en-US"/>
              <a:t>基础特征: 12 维</a:t>
            </a:r>
            <a:r>
              <a:rPr lang="zh-CN" altLang="en-US"/>
              <a:t>，3 日窗口拼接特征</a:t>
            </a:r>
            <a:r>
              <a:rPr lang="en-US"/>
              <a:t>单样本总维度 = 3 × 12 = 36 维特征，作为模型输入 X。</a:t>
            </a:r>
          </a:p>
          <a:p>
            <a:pPr marL="0" indent="0">
              <a:buNone/>
            </a:pPr>
            <a:r>
              <a:rPr lang="en-US"/>
              <a:t>滑动窗口过滤规则</a:t>
            </a:r>
          </a:p>
          <a:p>
            <a:r>
              <a:rPr lang="en-US"/>
              <a:t>连续 3 日不能停牌（volume&gt;0）</a:t>
            </a:r>
          </a:p>
          <a:p>
            <a:r>
              <a:rPr lang="en-US"/>
              <a:t>t+1 日不能停牌，否则丢弃该行样本</a:t>
            </a:r>
          </a:p>
          <a:p>
            <a:r>
              <a:rPr lang="en-US"/>
              <a:t>剔除涨跌停一字板极端噪声（可选）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417830"/>
          </a:xfrm>
        </p:spPr>
        <p:txBody>
          <a:bodyPr>
            <a:normAutofit fontScale="90000"/>
          </a:bodyPr>
          <a:lstStyle/>
          <a:p>
            <a:r>
              <a:rPr lang="zh-CN" altLang="en-US" b="0"/>
              <a:t>数据集划分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937260"/>
            <a:ext cx="10515600" cy="562737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时间切分（金融数据严禁随机打乱）</a:t>
            </a:r>
          </a:p>
          <a:p>
            <a:r>
              <a:rPr lang="en-US"/>
              <a:t>时序分割避免未来数据泄露：</a:t>
            </a:r>
          </a:p>
          <a:p>
            <a:pPr lvl="1"/>
            <a:r>
              <a:rPr lang="en-US"/>
              <a:t>训练集：2020-01-01 ~ 2024-12-31</a:t>
            </a:r>
          </a:p>
          <a:p>
            <a:pPr lvl="1"/>
            <a:r>
              <a:rPr lang="en-US"/>
              <a:t>验证集：2025-01-01 ~ 2025-12-31</a:t>
            </a:r>
          </a:p>
          <a:p>
            <a:pPr lvl="1"/>
            <a:r>
              <a:rPr lang="en-US"/>
              <a:t>测试集：2026-01-01 ~ 2026-07-03</a:t>
            </a:r>
          </a:p>
          <a:p>
            <a:pPr marL="0" indent="0">
              <a:buNone/>
            </a:pPr>
            <a:r>
              <a:rPr lang="en-US"/>
              <a:t>正负样本不平衡处理</a:t>
            </a:r>
          </a:p>
          <a:p>
            <a:r>
              <a:rPr lang="en-US"/>
              <a:t>A 股单日大涨 &gt; 1.5% 样本占比极低（约 8%~12%），训练必须处理：</a:t>
            </a:r>
          </a:p>
          <a:p>
            <a:pPr marL="914400" lvl="1" indent="-457200">
              <a:buAutoNum type="arabicPeriod"/>
            </a:pPr>
            <a:r>
              <a:rPr lang="en-US"/>
              <a:t>训练时 class_weight 加权损失</a:t>
            </a:r>
          </a:p>
          <a:p>
            <a:pPr marL="914400" lvl="1" indent="-457200">
              <a:buAutoNum type="arabicPeriod"/>
            </a:pPr>
            <a:r>
              <a:rPr lang="en-US"/>
              <a:t>欠采样负样本 / SMOTE 过采样正样本</a:t>
            </a:r>
          </a:p>
          <a:p>
            <a:pPr marL="914400" lvl="1" indent="-457200">
              <a:buAutoNum type="arabicPeriod"/>
            </a:pPr>
            <a:r>
              <a:rPr lang="en-US"/>
              <a:t>评估指标优先：Precision、Recall、F1、AUC（不只用准确率）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356235"/>
          </a:xfrm>
        </p:spPr>
        <p:txBody>
          <a:bodyPr>
            <a:normAutofit fontScale="90000"/>
          </a:bodyPr>
          <a:lstStyle/>
          <a:p>
            <a:r>
              <a:rPr lang="zh-CN" altLang="en-US" b="0"/>
              <a:t>基于数据集的训练测试方案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805180"/>
            <a:ext cx="10515600" cy="6053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可选模型选型（二分类任务）</a:t>
            </a:r>
          </a:p>
          <a:p>
            <a:r>
              <a:rPr lang="en-US"/>
              <a:t>方案 A：轻量树模型（推荐，速度快、可解释、适合 Agent 实时推理）</a:t>
            </a:r>
          </a:p>
          <a:p>
            <a:pPr lvl="1"/>
            <a:r>
              <a:rPr lang="en-US"/>
              <a:t>XGBoost / LightGBM 二分类，输出预测概率 prob(y=1)</a:t>
            </a:r>
          </a:p>
          <a:p>
            <a:pPr lvl="1"/>
            <a:r>
              <a:rPr lang="en-US"/>
              <a:t>推理逻辑：设定阈值 prob &gt; threshold → 判定明日上涨 &gt; 1.5%</a:t>
            </a:r>
          </a:p>
          <a:p>
            <a:r>
              <a:rPr lang="en-US"/>
              <a:t>方案 B：简单逻辑回归（基线）</a:t>
            </a:r>
          </a:p>
          <a:p>
            <a:r>
              <a:rPr lang="en-US"/>
              <a:t>方案 C：1D CNN（3 日时序特征专用）</a:t>
            </a:r>
          </a:p>
          <a:p>
            <a:pPr lvl="1"/>
            <a:r>
              <a:rPr lang="en-US"/>
              <a:t>36 维时序特征用一维卷积捕捉连续 K 线形态，适合复杂 K 线组合规律</a:t>
            </a:r>
          </a:p>
          <a:p>
            <a:pPr marL="0" indent="0">
              <a:buNone/>
            </a:pPr>
            <a:r>
              <a:rPr lang="en-US"/>
              <a:t>模型训练、回测、评估标准流程</a:t>
            </a:r>
          </a:p>
          <a:p>
            <a:pPr marL="800100" lvl="1" indent="-342900">
              <a:buAutoNum type="arabicPeriod"/>
            </a:pPr>
            <a:r>
              <a:rPr lang="en-US"/>
              <a:t>特征标准化 / 归一化（时序仅用训练集均值方差缩放）</a:t>
            </a:r>
          </a:p>
          <a:p>
            <a:pPr marL="800100" lvl="1" indent="-342900">
              <a:buAutoNum type="arabicPeriod"/>
            </a:pPr>
            <a:r>
              <a:rPr lang="en-US"/>
              <a:t>模型拟合训练集，验证集调参（阈值、学习率、树深度）</a:t>
            </a:r>
          </a:p>
          <a:p>
            <a:pPr marL="800100" lvl="1" indent="-342900">
              <a:buAutoNum type="arabicPeriod"/>
            </a:pPr>
            <a:r>
              <a:rPr lang="en-US"/>
              <a:t>测试集完整历史回测，输出指标：</a:t>
            </a:r>
          </a:p>
          <a:p>
            <a:pPr lvl="2"/>
            <a:r>
              <a:rPr lang="en-US"/>
              <a:t>精确率 Precision：预测大涨的股票里，真实次日 &gt; 1.5% 比例（交易场景最重要）</a:t>
            </a:r>
          </a:p>
          <a:p>
            <a:pPr lvl="2"/>
            <a:r>
              <a:rPr lang="en-US"/>
              <a:t>召回率 Recall：所有真正大涨的股票被模型抓到比例</a:t>
            </a:r>
          </a:p>
          <a:p>
            <a:pPr lvl="2"/>
            <a:r>
              <a:rPr lang="en-US"/>
              <a:t>总收益回测：按预测信号次日开盘买入收盘卖出，计算累计收益、最大回撤</a:t>
            </a:r>
          </a:p>
          <a:p>
            <a:pPr marL="800100" lvl="1" indent="-342900">
              <a:buAutoNum type="arabicPeriod"/>
            </a:pPr>
            <a:r>
              <a:rPr lang="en-US"/>
              <a:t>保存模型文件：stock_3day_predict_lgb.pkl + 特征元数据、阈值配置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31825"/>
          </a:xfrm>
        </p:spPr>
        <p:txBody>
          <a:bodyPr/>
          <a:lstStyle/>
          <a:p>
            <a:r>
              <a:rPr lang="zh-CN" altLang="en-US" b="0"/>
              <a:t>实现</a:t>
            </a:r>
            <a:r>
              <a:rPr lang="en-US" altLang="zh-CN" b="0"/>
              <a:t>: </a:t>
            </a:r>
            <a:r>
              <a:rPr lang="en-US" b="0"/>
              <a:t>封装为 Hermes 体系下的 StockPredictSubAgent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162050"/>
            <a:ext cx="10515600" cy="569658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架构定位</a:t>
            </a:r>
          </a:p>
          <a:p>
            <a:r>
              <a:rPr lang="en-US"/>
              <a:t>顶层：MainOrchestrator 主 Agent（Hermes 总调度）</a:t>
            </a:r>
          </a:p>
          <a:p>
            <a:r>
              <a:rPr lang="en-US"/>
              <a:t>专业子 Agent：Stock3DayPredictAgent（本行情预测模型载体）</a:t>
            </a:r>
          </a:p>
          <a:p>
            <a:r>
              <a:rPr lang="en-US"/>
              <a:t>配套工具模块：</a:t>
            </a:r>
          </a:p>
          <a:p>
            <a:pPr marL="914400" lvl="1" indent="-457200">
              <a:buAutoNum type="arabicPeriod"/>
            </a:pPr>
            <a:r>
              <a:rPr lang="en-US"/>
              <a:t>DataQueryTool：读取本地 A 股日线数据集</a:t>
            </a:r>
          </a:p>
          <a:p>
            <a:pPr marL="914400" lvl="1" indent="-457200">
              <a:buAutoNum type="arabicPeriod"/>
            </a:pPr>
            <a:r>
              <a:rPr lang="en-US"/>
              <a:t>ModelInferSkill：封装 3 日特征工程 + 模型推理完整技能</a:t>
            </a:r>
          </a:p>
          <a:p>
            <a:pPr marL="914400" lvl="1" indent="-457200">
              <a:buAutoNum type="arabicPeriod"/>
            </a:pPr>
            <a:r>
              <a:rPr lang="en-US"/>
              <a:t>BacktestSkill：历史批量回测评估技能</a:t>
            </a:r>
          </a:p>
          <a:p>
            <a:pPr marL="914400" lvl="1" indent="-457200">
              <a:buAutoNum type="arabicPeriod"/>
            </a:pPr>
            <a:r>
              <a:rPr lang="en-US"/>
              <a:t>ModelStoreModule：模型加载、持久化、参数管理模块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07645"/>
            <a:ext cx="10515600" cy="396240"/>
          </a:xfrm>
        </p:spPr>
        <p:txBody>
          <a:bodyPr>
            <a:normAutofit fontScale="90000"/>
          </a:bodyPr>
          <a:lstStyle/>
          <a:p>
            <a:r>
              <a:rPr lang="en-US" b="0"/>
              <a:t>实现: 封装为 Hermes 体系下的 StockPredictSubAgent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782320"/>
            <a:ext cx="10515600" cy="6076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Agent、Skill、Tool、存储模块交互关系</a:t>
            </a:r>
          </a:p>
          <a:p>
            <a:r>
              <a:rPr lang="en-US"/>
              <a:t>Stock3DayPredictSubAgent 核心交互对象</a:t>
            </a:r>
          </a:p>
          <a:p>
            <a:pPr marL="800100" lvl="1" indent="-342900">
              <a:buAutoNum type="arabicPeriod"/>
            </a:pPr>
            <a:r>
              <a:rPr lang="en-US"/>
              <a:t>Tool：DataQueryTool</a:t>
            </a:r>
          </a:p>
          <a:p>
            <a:pPr marL="914400" lvl="2" indent="0">
              <a:buNone/>
            </a:pPr>
            <a:r>
              <a:rPr lang="en-US"/>
              <a:t>接口：get_3day_kline(code: str, end_date: str) -&gt; list[KlineRow]</a:t>
            </a:r>
          </a:p>
          <a:p>
            <a:pPr marL="914400" lvl="2" indent="0">
              <a:buNone/>
            </a:pPr>
            <a:r>
              <a:rPr lang="en-US"/>
              <a:t>作用：根据股票代码 + 结束日 t，自动查询 t-2/t-1/t 三日行情窗口</a:t>
            </a:r>
          </a:p>
          <a:p>
            <a:pPr marL="800100" lvl="1" indent="-342900">
              <a:buAutoNum type="arabicPeriod"/>
            </a:pPr>
            <a:r>
              <a:rPr lang="en-US"/>
              <a:t>Skill：ModelInferSkill</a:t>
            </a:r>
          </a:p>
          <a:p>
            <a:pPr marL="914400" lvl="2" indent="0">
              <a:buNone/>
            </a:pPr>
            <a:r>
              <a:rPr lang="en-US"/>
              <a:t>接口：run(window_kline_list: list) -&gt; PredictResult</a:t>
            </a:r>
          </a:p>
          <a:p>
            <a:pPr marL="914400" lvl="2" indent="0">
              <a:buNone/>
            </a:pPr>
            <a:r>
              <a:rPr lang="en-US"/>
              <a:t>作用：特征计算、标准化、模型预测、输出大涨判断</a:t>
            </a:r>
          </a:p>
          <a:p>
            <a:pPr marL="800100" lvl="1" indent="-342900">
              <a:buAutoNum type="arabicPeriod"/>
            </a:pPr>
            <a:r>
              <a:rPr lang="en-US"/>
              <a:t>Skill：BacktestSkill</a:t>
            </a:r>
          </a:p>
          <a:p>
            <a:pPr marL="914400" lvl="2" indent="0">
              <a:buNone/>
            </a:pPr>
            <a:r>
              <a:rPr lang="en-US"/>
              <a:t>接口：run_backtest(start_date, end_date, stock_codes) -&gt; BacktestReport</a:t>
            </a:r>
          </a:p>
          <a:p>
            <a:pPr marL="914400" lvl="2" indent="0">
              <a:buNone/>
            </a:pPr>
            <a:r>
              <a:rPr lang="en-US"/>
              <a:t>作用：批量遍历历史区间，全量回测模型，输出准确率、收益曲线</a:t>
            </a:r>
          </a:p>
          <a:p>
            <a:pPr marL="800100" lvl="1" indent="-342900">
              <a:buAutoNum type="arabicPeriod"/>
            </a:pPr>
            <a:r>
              <a:rPr lang="en-US"/>
              <a:t>Module：ModelStoreModule</a:t>
            </a:r>
          </a:p>
          <a:p>
            <a:pPr marL="914400" lvl="2" indent="0">
              <a:buNone/>
            </a:pPr>
            <a:r>
              <a:rPr lang="en-US"/>
              <a:t>接口：load_model() / get_threshold() / save_model()</a:t>
            </a:r>
          </a:p>
          <a:p>
            <a:pPr marL="914400" lvl="2" indent="0">
              <a:buNone/>
            </a:pPr>
            <a:r>
              <a:rPr lang="en-US"/>
              <a:t>存储训练好的 LGB/XGB 模型、特征缩放参数、最优分类阈值</a:t>
            </a:r>
          </a:p>
          <a:p>
            <a:pPr marL="800100" lvl="1" indent="-342900">
              <a:buAutoNum type="arabicPeriod"/>
            </a:pPr>
            <a:r>
              <a:rPr lang="en-US"/>
              <a:t>Memory 模块</a:t>
            </a:r>
          </a:p>
          <a:p>
            <a:pPr marL="914400" lvl="2" indent="0">
              <a:buNone/>
            </a:pPr>
            <a:r>
              <a:rPr lang="en-US"/>
              <a:t>缓存近期股票预测结果，主 Agent 可查询历史预测记录</a:t>
            </a:r>
          </a:p>
          <a:p>
            <a:pPr marL="0" lvl="1"/>
            <a:r>
              <a:rPr lang="en-US"/>
              <a:t>Agent 之间通信接口（Hermes 标准 AgentMessage）</a:t>
            </a:r>
            <a:r>
              <a:rPr lang="zh-CN" altLang="en-US">
                <a:sym typeface="+mn-ea"/>
              </a:rPr>
              <a:t>见</a:t>
            </a:r>
            <a:r>
              <a:rPr lang="en-US" altLang="zh-CN">
                <a:sym typeface="+mn-ea"/>
              </a:rPr>
              <a:t>Note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38125"/>
            <a:ext cx="10515600" cy="529590"/>
          </a:xfrm>
        </p:spPr>
        <p:txBody>
          <a:bodyPr/>
          <a:lstStyle/>
          <a:p>
            <a:r>
              <a:rPr lang="en-US" b="0"/>
              <a:t>实现: 封装为 Hermes 体系下的 StockPredictSubAgent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009015"/>
            <a:ext cx="10515600" cy="571246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Stock3DayPredictSubAgent 内部完整执行流程</a:t>
            </a:r>
          </a:p>
          <a:p>
            <a:pPr marL="457200" indent="-457200">
              <a:buAutoNum type="arabicPeriod"/>
            </a:pPr>
            <a:r>
              <a:rPr lang="en-US"/>
              <a:t>接收主 Agent 预测任务消息，解析股票代码、窗口结束日期</a:t>
            </a:r>
          </a:p>
          <a:p>
            <a:pPr marL="457200" indent="-457200">
              <a:buAutoNum type="arabicPeriod"/>
            </a:pPr>
            <a:r>
              <a:rPr lang="en-US"/>
              <a:t>调用 DataQueryTool.get_3day_kline() 拉取 t-2/t-1/t 三日行情</a:t>
            </a:r>
          </a:p>
          <a:p>
            <a:pPr marL="457200" indent="-457200">
              <a:buAutoNum type="arabicPeriod"/>
            </a:pPr>
            <a:r>
              <a:rPr lang="en-US"/>
              <a:t>校验数据完整性：无停牌、数据长度 = 3，缺失则返回报错消息</a:t>
            </a:r>
          </a:p>
          <a:p>
            <a:pPr marL="457200" indent="-457200">
              <a:buAutoNum type="arabicPeriod"/>
            </a:pPr>
            <a:r>
              <a:rPr lang="en-US"/>
              <a:t>调用 ModelInferSkill.run() 执行特征工程 + 模型推理</a:t>
            </a:r>
          </a:p>
          <a:p>
            <a:pPr marL="457200" indent="-457200">
              <a:buAutoNum type="arabicPeriod"/>
            </a:pPr>
            <a:r>
              <a:rPr lang="en-US"/>
              <a:t>封装预测结果消息，通过消息总线回传给主 Agent</a:t>
            </a:r>
          </a:p>
          <a:p>
            <a:pPr marL="457200" indent="-457200">
              <a:buAutoNum type="arabicPeriod"/>
            </a:pPr>
            <a:r>
              <a:rPr lang="en-US"/>
              <a:t>若任务为回测：循环遍历指定区间所有股票窗口，批量推理，汇总指标生成回测报告返回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17805"/>
            <a:ext cx="10515600" cy="456565"/>
          </a:xfrm>
        </p:spPr>
        <p:txBody>
          <a:bodyPr>
            <a:normAutofit fontScale="90000"/>
          </a:bodyPr>
          <a:lstStyle/>
          <a:p>
            <a:r>
              <a:rPr lang="en-US" b="0">
                <a:sym typeface="+mn-ea"/>
              </a:rPr>
              <a:t>实现: 封装为 Hermes 体系下的 StockPredictSubAgent</a:t>
            </a:r>
            <a:endParaRPr lang="en-US" b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875030"/>
            <a:ext cx="10515600" cy="5982335"/>
          </a:xfrm>
        </p:spPr>
        <p:txBody>
          <a:bodyPr>
            <a:normAutofit lnSpcReduction="20000"/>
          </a:bodyPr>
          <a:lstStyle/>
          <a:p>
            <a:r>
              <a:rPr lang="en-US"/>
              <a:t>关键代码实现（可直接嵌入 Hermes 后端）</a:t>
            </a:r>
          </a:p>
          <a:p>
            <a:pPr lvl="1"/>
            <a:r>
              <a:rPr lang="en-US"/>
              <a:t>模型推理 </a:t>
            </a:r>
            <a:r>
              <a:rPr lang="en-US" b="1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Skill</a:t>
            </a:r>
            <a:r>
              <a:rPr lang="en-US"/>
              <a:t> 核心代码</a:t>
            </a:r>
          </a:p>
          <a:p>
            <a:pPr lvl="1"/>
            <a:r>
              <a:rPr lang="en-US"/>
              <a:t>预测</a:t>
            </a:r>
            <a:r>
              <a:rPr lang="en-US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:rPr>
              <a:t>子 Agent </a:t>
            </a:r>
            <a:r>
              <a:rPr lang="en-US"/>
              <a:t>主体代码（Hermes 标准 SubAgent）</a:t>
            </a:r>
          </a:p>
          <a:p>
            <a:pPr lvl="0"/>
            <a:r>
              <a:rPr lang="zh-CN" altLang="en-US"/>
              <a:t>用户如何具体使用、</a:t>
            </a:r>
            <a:r>
              <a:rPr lang="en-US" altLang="zh-CN"/>
              <a:t>Agent</a:t>
            </a:r>
            <a:r>
              <a:rPr lang="zh-CN" altLang="en-US"/>
              <a:t>内部运行逻辑</a:t>
            </a:r>
            <a:r>
              <a:rPr lang="en-US" altLang="zh-CN"/>
              <a:t>(Hermes 主 Agent 调度逻辑)</a:t>
            </a:r>
            <a:endParaRPr lang="zh-CN" altLang="en-US"/>
          </a:p>
          <a:p>
            <a:pPr lvl="1"/>
            <a:r>
              <a:rPr lang="en-US"/>
              <a:t>主 Agent 收到用户指令:</a:t>
            </a:r>
          </a:p>
          <a:p>
            <a:pPr lvl="1"/>
            <a:r>
              <a:rPr lang="en-US"/>
              <a:t>"用 2026-07-01、07-02、07-03 三日行情预测 000001.SZ 明天是否上涨超 1.5%"</a:t>
            </a:r>
          </a:p>
          <a:p>
            <a:pPr marL="1257300" lvl="2" indent="-342900">
              <a:buAutoNum type="arabicPeriod"/>
            </a:pPr>
            <a:r>
              <a:rPr lang="en-US"/>
              <a:t>MainOrchestrator 解析用户需求，识别需要调用股票预测子 Agent</a:t>
            </a:r>
          </a:p>
          <a:p>
            <a:pPr marL="1257300" lvl="2" indent="-342900">
              <a:buAutoNum type="arabicPeriod"/>
            </a:pPr>
            <a:r>
              <a:rPr lang="en-US"/>
              <a:t>组装 task_assign 消息，发送至消息总线</a:t>
            </a:r>
          </a:p>
          <a:p>
            <a:pPr marL="1257300" lvl="2" indent="-342900">
              <a:buAutoNum type="arabicPeriod"/>
            </a:pPr>
            <a:r>
              <a:rPr lang="en-US"/>
              <a:t>StockPredictSubAgent 轮询收到任务，执行工具查询 + 模型推理</a:t>
            </a:r>
          </a:p>
          <a:p>
            <a:pPr marL="1257300" lvl="2" indent="-342900">
              <a:buAutoNum type="arabicPeriod"/>
            </a:pPr>
            <a:r>
              <a:rPr lang="en-US"/>
              <a:t>子 Agent 返回预测结果消息</a:t>
            </a:r>
          </a:p>
          <a:p>
            <a:pPr marL="1257300" lvl="2" indent="-342900">
              <a:buAutoNum type="arabicPeriod"/>
            </a:pPr>
            <a:r>
              <a:rPr lang="en-US"/>
              <a:t>主 Agent 读取结果，整理自然语言回答输出给前端 Hermes 界面</a:t>
            </a:r>
          </a:p>
          <a:p>
            <a:pPr lvl="1"/>
            <a:r>
              <a:rPr lang="en-US"/>
              <a:t>历史回测集成说明（模型验证能力）</a:t>
            </a:r>
          </a:p>
          <a:p>
            <a:pPr marL="914400" lvl="2" indent="0">
              <a:buNone/>
            </a:pPr>
            <a:r>
              <a:rPr lang="en-US"/>
              <a:t>BacktestSkill 内部逻辑：</a:t>
            </a:r>
          </a:p>
          <a:p>
            <a:pPr marL="1257300" lvl="2" indent="-342900">
              <a:buAutoNum type="arabicPeriod"/>
            </a:pPr>
            <a:r>
              <a:rPr lang="en-US"/>
              <a:t>遍历指定时间区间内每只股票、每一个 3 日滑动窗口</a:t>
            </a:r>
          </a:p>
          <a:p>
            <a:pPr marL="1257300" lvl="2" indent="-342900">
              <a:buAutoNum type="arabicPeriod"/>
            </a:pPr>
            <a:r>
              <a:rPr lang="en-US"/>
              <a:t>全部送入模型预测，记录每一条预测信号</a:t>
            </a:r>
          </a:p>
          <a:p>
            <a:pPr marL="1257300" lvl="2" indent="-342900">
              <a:buAutoNum type="arabicPeriod"/>
            </a:pPr>
            <a:r>
              <a:rPr lang="en-US"/>
              <a:t>匹配真实 t+1 涨跌幅标签，计算：</a:t>
            </a:r>
          </a:p>
          <a:p>
            <a:pPr lvl="3"/>
            <a:r>
              <a:rPr lang="en-US"/>
              <a:t>整体精确率、召回率</a:t>
            </a:r>
          </a:p>
          <a:p>
            <a:pPr lvl="3"/>
            <a:r>
              <a:rPr lang="en-US"/>
              <a:t>按信号模拟交易收益曲线、胜率、最大回撤</a:t>
            </a:r>
          </a:p>
          <a:p>
            <a:pPr marL="1257300" lvl="2" indent="-342900">
              <a:buAutoNum type="arabicPeriod"/>
            </a:pPr>
            <a:r>
              <a:rPr lang="en-US"/>
              <a:t>输出结构化回测报告，主 Agent 可将报告返回前端可视化展示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682625"/>
          </a:xfrm>
        </p:spPr>
        <p:txBody>
          <a:bodyPr/>
          <a:lstStyle/>
          <a:p>
            <a:r>
              <a:rPr lang="en-US" b="0"/>
              <a:t>实现: 封装为 Hermes 体系下的 StockPredictSubAgent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146175"/>
            <a:ext cx="10515600" cy="55753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扩展优化点（适配 Hermes Agent 生态）</a:t>
            </a:r>
          </a:p>
          <a:p>
            <a:pPr marL="457200" indent="-457200">
              <a:buAutoNum type="arabicPeriod"/>
            </a:pPr>
            <a:r>
              <a:rPr lang="en-US"/>
              <a:t>增加模型重训练 Skill：主 Agent 可下发指令重新训练模型并更新权重</a:t>
            </a:r>
          </a:p>
          <a:p>
            <a:pPr marL="457200" indent="-457200">
              <a:buAutoNum type="arabicPeriod"/>
            </a:pPr>
            <a:r>
              <a:rPr lang="en-US"/>
              <a:t>增加风险过滤子 Agent 联动：预测大涨后，风控子 Agent 校验成交量、估值，过滤低质量信号</a:t>
            </a:r>
          </a:p>
          <a:p>
            <a:pPr marL="457200" indent="-457200">
              <a:buAutoNum type="arabicPeriod"/>
            </a:pPr>
            <a:r>
              <a:rPr lang="en-US"/>
              <a:t>Hermes 前端对接：新增「股票预测」面板，输入股票代码与截止日期，可视化模型预测概率与历史回测曲线</a:t>
            </a:r>
          </a:p>
          <a:p>
            <a:pPr marL="457200" indent="-457200">
              <a:buAutoNum type="arabicPeriod"/>
            </a:pPr>
            <a:r>
              <a:rPr lang="en-US"/>
              <a:t>多标的并行预测：主 Agent 一次性下发多支股票任务，子 Agent 并行批量推理，提升速度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4545</Words>
  <Application>Microsoft Office PowerPoint</Application>
  <PresentationFormat>宽屏</PresentationFormat>
  <Paragraphs>619</Paragraphs>
  <Slides>33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宋体</vt:lpstr>
      <vt:lpstr>Arial</vt:lpstr>
      <vt:lpstr>Arial Black</vt:lpstr>
      <vt:lpstr>Calibri</vt:lpstr>
      <vt:lpstr>Office Theme</vt:lpstr>
      <vt:lpstr>手搓类Hermes Agent 工作记录</vt:lpstr>
      <vt:lpstr>从零开始的总体思考</vt:lpstr>
      <vt:lpstr>Codebase目录结构</vt:lpstr>
      <vt:lpstr>整合、调试、增强 Hermes Agent 专属特性(第三阶段工作内容)</vt:lpstr>
      <vt:lpstr>多 Agent 分层架构：主 Agent + 子 Agent 完整体系详解</vt:lpstr>
      <vt:lpstr>多 Agent 标准工作结构（4 大类主流架构，附适用场景 + 实例）- 1</vt:lpstr>
      <vt:lpstr>多 Agent 标准工作结构（4 大类主流架构，附适用场景 + 实例）- 2</vt:lpstr>
      <vt:lpstr>多 Agent 标准工作结构（4 大类主流架构，附适用场景 + 实例）- 3</vt:lpstr>
      <vt:lpstr>多 Agent 标准工作结构（4 大类主流架构，附适用场景 + 实例）- 4</vt:lpstr>
      <vt:lpstr>关于Agent的通识知识(General Knowledge)</vt:lpstr>
      <vt:lpstr>关于Agent的通识知识(General Knowledge)</vt:lpstr>
      <vt:lpstr>关于Agent的通识知识(General Knowledge)</vt:lpstr>
      <vt:lpstr>关于Agent的通识知识(General Knowledge)</vt:lpstr>
      <vt:lpstr>关于Agent的通识知识(General Knowledge)</vt:lpstr>
      <vt:lpstr>关于Agent的通识知识(General Knowledge)</vt:lpstr>
      <vt:lpstr>关于Agent的通识知识(General Knowledge)</vt:lpstr>
      <vt:lpstr>多 Agent 协调实现手段（5 种主流方案，附代码 / 框架实例）</vt:lpstr>
      <vt:lpstr>手段 1：集中式消息总线调度（最常用，Hermes/CrewAI 底层方案）</vt:lpstr>
      <vt:lpstr>手段 2：状态图调度（LangGraph 标准协调方案）</vt:lpstr>
      <vt:lpstr>手段 3：RPC 函数调用（强耦合直连协调，适合固定 Agent 集群）</vt:lpstr>
      <vt:lpstr>手段 4：事件驱动队列(大规模分布式 Agent，即Agent可能部署在不同服务器节点Node上，生产级)</vt:lpstr>
      <vt:lpstr>手段 5：委派递归协调（AutoGen Agent 群聊 / 委派模式）</vt:lpstr>
      <vt:lpstr>完整落地示例整合（Hermes 风格多 Agent 系统串联全链路）</vt:lpstr>
      <vt:lpstr>案例实现: A 股 3 日行情预测明日大涨 (&gt;1.5%) 模型 + Hermes 子 Agent 集成</vt:lpstr>
      <vt:lpstr>整体需求拆解</vt:lpstr>
      <vt:lpstr>实采数据研究</vt:lpstr>
      <vt:lpstr>数据集划分</vt:lpstr>
      <vt:lpstr>基于数据集的训练测试方案</vt:lpstr>
      <vt:lpstr>实现: 封装为 Hermes 体系下的 StockPredictSubAgent</vt:lpstr>
      <vt:lpstr>实现: 封装为 Hermes 体系下的 StockPredictSubAgent</vt:lpstr>
      <vt:lpstr>实现: 封装为 Hermes 体系下的 StockPredictSubAgent</vt:lpstr>
      <vt:lpstr>实现: 封装为 Hermes 体系下的 StockPredictSubAgent</vt:lpstr>
      <vt:lpstr>实现: 封装为 Hermes 体系下的 StockPredictSubAgent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Zhang</dc:creator>
  <cp:lastModifiedBy>Peilin Zhang</cp:lastModifiedBy>
  <cp:revision>68</cp:revision>
  <dcterms:created xsi:type="dcterms:W3CDTF">2026-07-18T06:14:03Z</dcterms:created>
  <dcterms:modified xsi:type="dcterms:W3CDTF">2026-07-18T06:35:20Z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